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9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4C61"/>
    <a:srgbClr val="333333"/>
    <a:srgbClr val="33ABB5"/>
    <a:srgbClr val="FCA28A"/>
    <a:srgbClr val="F8EDCA"/>
    <a:srgbClr val="E8D285"/>
    <a:srgbClr val="ACB504"/>
    <a:srgbClr val="0C53ED"/>
    <a:srgbClr val="0038A8"/>
    <a:srgbClr val="246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62"/>
    <p:restoredTop sz="94660"/>
  </p:normalViewPr>
  <p:slideViewPr>
    <p:cSldViewPr snapToGrid="0">
      <p:cViewPr varScale="1">
        <p:scale>
          <a:sx n="105" d="100"/>
          <a:sy n="105" d="100"/>
        </p:scale>
        <p:origin x="216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customXml" Target="../customXml/item1.xml"/><Relationship Id="rId47" Type="http://schemas.openxmlformats.org/officeDocument/2006/relationships/customXml" Target="../customXml/item2.xml"/><Relationship Id="rId48" Type="http://schemas.openxmlformats.org/officeDocument/2006/relationships/customXml" Target="../customXml/item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Opsummering af del 2: hospital, doctor og patient med foreign keys. I dag får appen brugere, der skal logge ind, og roller, der bestemmer, hvad de må.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Samme fejlbesked for forkert brugernavn og forkert password, ellers kan en angriber finde ud af, hvilke brugernavne der findes.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27.svg"/><Relationship Id="rId4" Type="http://schemas.openxmlformats.org/officeDocument/2006/relationships/image" Target="../media/image8.png"/><Relationship Id="rId5" Type="http://schemas.openxmlformats.org/officeDocument/2006/relationships/image" Target="../media/image9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Relationship Id="rId4" Type="http://schemas.openxmlformats.org/officeDocument/2006/relationships/image" Target="../media/image33.jpg"/><Relationship Id="rId5" Type="http://schemas.openxmlformats.org/officeDocument/2006/relationships/image" Target="../media/image34.jpe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4C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7AAD11E-852B-1306-B807-4514E9A6B62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6326" t="-1" r="10861" b="7860"/>
          <a:stretch>
            <a:fillRect/>
          </a:stretch>
        </p:blipFill>
        <p:spPr>
          <a:xfrm>
            <a:off x="-1" y="810033"/>
            <a:ext cx="12192001" cy="603526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0FA6A5F6-D103-566B-25C0-F47D08D8981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004301" y="5944421"/>
            <a:ext cx="3168648" cy="894528"/>
          </a:xfrm>
          <a:prstGeom prst="rect">
            <a:avLst/>
          </a:prstGeom>
        </p:spPr>
      </p:pic>
      <p:sp>
        <p:nvSpPr>
          <p:cNvPr id="6" name="Titel 1">
            <a:extLst>
              <a:ext uri="{FF2B5EF4-FFF2-40B4-BE49-F238E27FC236}">
                <a16:creationId xmlns:a16="http://schemas.microsoft.com/office/drawing/2014/main" id="{D9D4E9AD-DD0C-95AC-716A-66462C07BC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2335" y="1446829"/>
            <a:ext cx="11129227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8" name="Undertitel 2">
            <a:extLst>
              <a:ext uri="{FF2B5EF4-FFF2-40B4-BE49-F238E27FC236}">
                <a16:creationId xmlns:a16="http://schemas.microsoft.com/office/drawing/2014/main" id="{BCC4908C-1C26-D9E0-8274-074245B19B9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336" y="2292353"/>
            <a:ext cx="11129228" cy="3652067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</p:spTree>
    <p:extLst>
      <p:ext uri="{BB962C8B-B14F-4D97-AF65-F5344CB8AC3E}">
        <p14:creationId xmlns:p14="http://schemas.microsoft.com/office/powerpoint/2010/main" val="32802812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ktangel 6">
            <a:extLst>
              <a:ext uri="{FF2B5EF4-FFF2-40B4-BE49-F238E27FC236}">
                <a16:creationId xmlns:a16="http://schemas.microsoft.com/office/drawing/2014/main" id="{C3BA29A4-58ED-73B3-D9C4-736FB4BD7C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-111512"/>
            <a:ext cx="12192000" cy="7002965"/>
          </a:xfrm>
          <a:prstGeom prst="rect">
            <a:avLst/>
          </a:prstGeom>
          <a:solidFill>
            <a:srgbClr val="FE4C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77FFCE30-225F-2B28-2234-D836DE97331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9"/>
          </a:xfrm>
          <a:prstGeom prst="rect">
            <a:avLst/>
          </a:prstGeom>
        </p:spPr>
      </p:pic>
      <p:sp>
        <p:nvSpPr>
          <p:cNvPr id="5" name="Titel 1">
            <a:extLst>
              <a:ext uri="{FF2B5EF4-FFF2-40B4-BE49-F238E27FC236}">
                <a16:creationId xmlns:a16="http://schemas.microsoft.com/office/drawing/2014/main" id="{B15FBE8F-A0E7-85B7-5D28-6EA4A1EE4BE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577821" y="906835"/>
            <a:ext cx="6062636" cy="681038"/>
          </a:xfrm>
        </p:spPr>
        <p:txBody>
          <a:bodyPr anchor="b">
            <a:normAutofit/>
          </a:bodyPr>
          <a:lstStyle>
            <a:lvl1pPr algn="l">
              <a:defRPr sz="4000" b="0" i="1">
                <a:solidFill>
                  <a:schemeClr val="bg1"/>
                </a:solidFill>
                <a:latin typeface="Aptos Serif" panose="02020604070405020304" pitchFamily="18" charset="0"/>
                <a:cs typeface="Aptos Serif" panose="02020604070405020304" pitchFamily="18" charset="0"/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6" name="Undertitel 2">
            <a:extLst>
              <a:ext uri="{FF2B5EF4-FFF2-40B4-BE49-F238E27FC236}">
                <a16:creationId xmlns:a16="http://schemas.microsoft.com/office/drawing/2014/main" id="{1E50DD4C-B05A-9D9C-1298-100FEAD63F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77821" y="1725559"/>
            <a:ext cx="6062636" cy="4210783"/>
          </a:xfr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a-DK" dirty="0"/>
              <a:t>Brødtekst</a:t>
            </a:r>
          </a:p>
        </p:txBody>
      </p:sp>
      <p:pic>
        <p:nvPicPr>
          <p:cNvPr id="3" name="Billede 2">
            <a:extLst>
              <a:ext uri="{FF2B5EF4-FFF2-40B4-BE49-F238E27FC236}">
                <a16:creationId xmlns:a16="http://schemas.microsoft.com/office/drawing/2014/main" id="{E40976EB-B007-D8E8-0F64-4A816184A5E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36667" t="10621" r="27736" b="25037"/>
          <a:stretch>
            <a:fillRect/>
          </a:stretch>
        </p:blipFill>
        <p:spPr>
          <a:xfrm>
            <a:off x="0" y="0"/>
            <a:ext cx="5060949" cy="6858000"/>
          </a:xfrm>
          <a:prstGeom prst="rect">
            <a:avLst/>
          </a:prstGeom>
        </p:spPr>
      </p:pic>
      <p:pic>
        <p:nvPicPr>
          <p:cNvPr id="2" name="Picture 3">
            <a:extLst>
              <a:ext uri="{FF2B5EF4-FFF2-40B4-BE49-F238E27FC236}">
                <a16:creationId xmlns:a16="http://schemas.microsoft.com/office/drawing/2014/main" id="{70A5357D-07CA-8833-67BE-53F3151F5A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055" t="-530" r="27199" b="828"/>
          <a:stretch>
            <a:fillRect/>
          </a:stretch>
        </p:blipFill>
        <p:spPr>
          <a:xfrm>
            <a:off x="-1" y="-111512"/>
            <a:ext cx="5060949" cy="6969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823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ktangel 8">
            <a:extLst>
              <a:ext uri="{FF2B5EF4-FFF2-40B4-BE49-F238E27FC236}">
                <a16:creationId xmlns:a16="http://schemas.microsoft.com/office/drawing/2014/main" id="{B35025B1-7DAA-BEC3-023B-53B064E4F8A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4C6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14D965-0696-3E04-298B-AB996A465F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da-DK" dirty="0"/>
              <a:t>Overskrift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220CCBED-4346-6E83-8D04-9B77998A18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1187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indhold 3">
            <a:extLst>
              <a:ext uri="{FF2B5EF4-FFF2-40B4-BE49-F238E27FC236}">
                <a16:creationId xmlns:a16="http://schemas.microsoft.com/office/drawing/2014/main" id="{00B0B2D9-5DBC-8F64-6D8F-FD17492D3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11879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136BA7A-2D33-F09A-D91B-920433AF79F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04301" y="5944421"/>
            <a:ext cx="3168648" cy="89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74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4" Type="http://schemas.openxmlformats.org/officeDocument/2006/relationships/slideLayout" Target="../slideLayouts/slideLayout14.xml"/><Relationship Id="rId19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24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titel 1">
            <a:extLst>
              <a:ext uri="{FF2B5EF4-FFF2-40B4-BE49-F238E27FC236}">
                <a16:creationId xmlns:a16="http://schemas.microsoft.com/office/drawing/2014/main" id="{59D3788E-DF04-3F25-B2F2-39916224C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 dirty="0"/>
              <a:t>Klik for at redigere titeltypografien i masteren</a:t>
            </a:r>
          </a:p>
        </p:txBody>
      </p:sp>
      <p:sp>
        <p:nvSpPr>
          <p:cNvPr id="3" name="Pladsholder til tekst 2">
            <a:extLst>
              <a:ext uri="{FF2B5EF4-FFF2-40B4-BE49-F238E27FC236}">
                <a16:creationId xmlns:a16="http://schemas.microsoft.com/office/drawing/2014/main" id="{ACF4F2E5-1019-2F72-C943-C22FA2B47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 dirty="0"/>
              <a:t>Klik for at redigere teksttypografierne i masteren</a:t>
            </a:r>
          </a:p>
          <a:p>
            <a:pPr lvl="1"/>
            <a:r>
              <a:rPr lang="da-DK" dirty="0"/>
              <a:t>Andet niveau</a:t>
            </a:r>
          </a:p>
          <a:p>
            <a:pPr lvl="2"/>
            <a:r>
              <a:rPr lang="da-DK" dirty="0"/>
              <a:t>Tredje niveau</a:t>
            </a:r>
          </a:p>
          <a:p>
            <a:pPr lvl="3"/>
            <a:r>
              <a:rPr lang="da-DK" dirty="0"/>
              <a:t>Fjerde niveau</a:t>
            </a:r>
          </a:p>
          <a:p>
            <a:pPr lvl="4"/>
            <a:r>
              <a:rPr lang="da-DK" dirty="0"/>
              <a:t>Femte niveau</a:t>
            </a:r>
          </a:p>
        </p:txBody>
      </p:sp>
      <p:sp>
        <p:nvSpPr>
          <p:cNvPr id="4" name="Pladsholder til dato 3">
            <a:extLst>
              <a:ext uri="{FF2B5EF4-FFF2-40B4-BE49-F238E27FC236}">
                <a16:creationId xmlns:a16="http://schemas.microsoft.com/office/drawing/2014/main" id="{AF8E03F2-3148-CD75-07C7-E5DBEE1545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EAAF4-5C60-4648-853A-0F85F719702F}" type="datetimeFigureOut">
              <a:rPr lang="da-DK" smtClean="0"/>
              <a:t>30.06.2025</a:t>
            </a:fld>
            <a:endParaRPr lang="da-DK"/>
          </a:p>
        </p:txBody>
      </p:sp>
      <p:sp>
        <p:nvSpPr>
          <p:cNvPr id="5" name="Pladsholder til sidefod 4">
            <a:extLst>
              <a:ext uri="{FF2B5EF4-FFF2-40B4-BE49-F238E27FC236}">
                <a16:creationId xmlns:a16="http://schemas.microsoft.com/office/drawing/2014/main" id="{EB68D781-B182-ABF7-8F19-FC6B0637C9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972B3DFC-B36F-3A09-8CE8-7EA169EA3A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7CFCBD-0BB6-4C4B-8C52-DD65F470F13F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1473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4"/>
    <p:sldLayoutId id="2147483672" r:id="rId19"/>
    <p:sldLayoutId id="2147483681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1" kern="1200">
          <a:solidFill>
            <a:srgbClr val="333333"/>
          </a:solidFill>
          <a:latin typeface="Aptos Serif" panose="02020604070405020304" pitchFamily="18" charset="0"/>
          <a:ea typeface="+mj-ea"/>
          <a:cs typeface="Aptos Serif" panose="0202060407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33333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hyperlink" Target="https://apiflask.com/authentication/" TargetMode="External"/><Relationship Id="rId3" Type="http://schemas.openxmlformats.org/officeDocument/2006/relationships/hyperlink" Target="https://flask-httpauth.readthedocs.io/en/latest/#user-roles" TargetMode="External"/><Relationship Id="rId4" Type="http://schemas.openxmlformats.org/officeDocument/2006/relationships/hyperlink" Target="https://jose.authlib.org/en/guide/jwt/" TargetMode="External"/><Relationship Id="rId5" Type="http://schemas.openxmlformats.org/officeDocument/2006/relationships/hyperlink" Target="https://datatracker.ietf.org/doc/html/rfc7519" TargetMode="External"/><Relationship Id="rId6" Type="http://schemas.openxmlformats.org/officeDocument/2006/relationships/hyperlink" Target="https://werkzeug.palletsprojects.com/en/stable/utils/#module-werkzeug.security" TargetMode="External"/><Relationship Id="rId7" Type="http://schemas.openxmlformats.org/officeDocument/2006/relationships/hyperlink" Target="https://cheatsheetseries.owasp.org/cheatsheets/Password_Storage_Cheat_Sheet.html" TargetMode="External"/><Relationship Id="rId8" Type="http://schemas.openxmlformats.org/officeDocument/2006/relationships/hyperlink" Target="https://cheatsheetseries.owasp.org/cheatsheets/Authentication_Cheat_Sheet.html" TargetMode="External"/><Relationship Id="rId9" Type="http://schemas.openxmlformats.org/officeDocument/2006/relationships/hyperlink" Target="https://cheatsheetseries.owasp.org/cheatsheets/Authorization_Cheat_Sheet.html" TargetMode="External"/><Relationship Id="rId10" Type="http://schemas.openxmlformats.org/officeDocument/2006/relationships/hyperlink" Target="https://www.postgresql.org/docs/current/sql-keywords-appendix.html" TargetMode="External"/><Relationship Id="rId11" Type="http://schemas.openxmlformats.org/officeDocument/2006/relationships/hyperlink" Target="https://www.postgresql.org/docs/current/ddl-constraints.html#DDL-CONSTRAINTS-UNIQUE-CONSTRAINTS" TargetMode="External"/><Relationship Id="rId12" Type="http://schemas.openxmlformats.org/officeDocument/2006/relationships/hyperlink" Target="https://www.psycopg.org/psycopg3/docs/advanced/rows.html" TargetMode="External"/><Relationship Id="rId13" Type="http://schemas.openxmlformats.org/officeDocument/2006/relationships/hyperlink" Target="https://developer.mozilla.org/en-US/docs/Web/HTTP/Status/401" TargetMode="External"/><Relationship Id="rId14" Type="http://schemas.openxmlformats.org/officeDocument/2006/relationships/hyperlink" Target="https://developer.mozilla.org/en-US/docs/Web/HTTP/Status/403" TargetMode="Externa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08320" y="1158240"/>
            <a:ext cx="6095999" cy="1828800"/>
          </a:xfrm>
        </p:spPr>
        <p:txBody>
          <a:bodyPr wrap="square" anchor="b" lIns="0" rIns="0" tIns="0" bIns="0"/>
          <a:lstStyle/>
          <a:p>
            <a:r>
              <a:rPr sz="4266"/>
              <a:t>Login og roller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08320" y="3169920"/>
            <a:ext cx="6095999" cy="1219200"/>
          </a:xfrm>
        </p:spPr>
        <p:txBody>
          <a:bodyPr wrap="square" anchor="t" lIns="0" rIns="0" tIns="0" bIns="0"/>
          <a:lstStyle/>
          <a:p>
            <a:r>
              <a:rPr sz="2133"/>
              <a:t>Hashede passwords, JWT bearer tokens og role-based access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8320" y="670560"/>
            <a:ext cx="6095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Lektion 5 · Del 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08320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A0142B"/>
                </a:solidFill>
                <a:latin typeface="Calibri"/>
              </a:rPr>
              <a:t>app_user +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6319" y="4572000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A0142B"/>
                </a:solidFill>
                <a:latin typeface="Calibri"/>
              </a:rPr>
              <a:t>Password hash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08320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A0142B"/>
                </a:solidFill>
                <a:latin typeface="Calibri"/>
              </a:rPr>
              <a:t>JWT + exp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56319" y="5242559"/>
            <a:ext cx="28651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33" b="1" i="0">
                <a:solidFill>
                  <a:srgbClr val="A0142B"/>
                </a:solidFill>
                <a:latin typeface="Calibri"/>
              </a:rPr>
              <a:t>roles=[...]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Planen for del 3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Trin 1–3 hjemme, trin 4–7 i undervisningen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D93349"/>
                </a:solidFill>
                <a:latin typeface="Aptos Serif"/>
              </a:rPr>
              <a:t>Hjemme</a:t>
            </a:r>
          </a:p>
        </p:txBody>
      </p:sp>
      <p:sp>
        <p:nvSpPr>
          <p:cNvPr id="6" name="Oval 5"/>
          <p:cNvSpPr/>
          <p:nvPr/>
        </p:nvSpPr>
        <p:spPr>
          <a:xfrm>
            <a:off x="609600" y="2438400"/>
            <a:ext cx="512063" cy="512063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1120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uv sync, læs theory.md</a:t>
            </a:r>
          </a:p>
        </p:txBody>
      </p:sp>
      <p:sp>
        <p:nvSpPr>
          <p:cNvPr id="9" name="Oval 8"/>
          <p:cNvSpPr/>
          <p:nvPr/>
        </p:nvSpPr>
        <p:spPr>
          <a:xfrm>
            <a:off x="609600" y="3169920"/>
            <a:ext cx="512063" cy="512063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1120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ER diagram: app_user og role</a:t>
            </a:r>
          </a:p>
        </p:txBody>
      </p:sp>
      <p:sp>
        <p:nvSpPr>
          <p:cNvPr id="12" name="Oval 11"/>
          <p:cNvSpPr/>
          <p:nvPr/>
        </p:nvSpPr>
        <p:spPr>
          <a:xfrm>
            <a:off x="609600" y="3901440"/>
            <a:ext cx="512063" cy="512063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9600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1120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CREATE TABLE + roller</a:t>
            </a:r>
          </a:p>
        </p:txBody>
      </p:sp>
      <p:sp>
        <p:nvSpPr>
          <p:cNvPr id="15" name="Oval 14"/>
          <p:cNvSpPr/>
          <p:nvPr/>
        </p:nvSpPr>
        <p:spPr>
          <a:xfrm>
            <a:off x="609600" y="4632960"/>
            <a:ext cx="512063" cy="512063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41120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Hash passwords, opret brugere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19" y="1828800"/>
            <a:ext cx="5242559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0038A8"/>
                </a:solidFill>
                <a:latin typeface="Aptos Serif"/>
              </a:rPr>
              <a:t>I undervisningen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19" y="243840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19" y="243840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39" y="243840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POST /login</a:t>
            </a:r>
          </a:p>
        </p:txBody>
      </p:sp>
      <p:sp>
        <p:nvSpPr>
          <p:cNvPr id="22" name="Oval 21"/>
          <p:cNvSpPr/>
          <p:nvPr/>
        </p:nvSpPr>
        <p:spPr>
          <a:xfrm>
            <a:off x="6217919" y="316992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19" y="316992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39" y="316992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Tjek tokenet: verify_token</a:t>
            </a:r>
          </a:p>
        </p:txBody>
      </p:sp>
      <p:sp>
        <p:nvSpPr>
          <p:cNvPr id="25" name="Oval 24"/>
          <p:cNvSpPr/>
          <p:nvPr/>
        </p:nvSpPr>
        <p:spPr>
          <a:xfrm>
            <a:off x="6217919" y="390144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19" y="390144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390144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Roller: roles=[...]</a:t>
            </a:r>
          </a:p>
        </p:txBody>
      </p:sp>
      <p:sp>
        <p:nvSpPr>
          <p:cNvPr id="28" name="Oval 27"/>
          <p:cNvSpPr/>
          <p:nvPr/>
        </p:nvSpPr>
        <p:spPr>
          <a:xfrm>
            <a:off x="6217919" y="4632960"/>
            <a:ext cx="512063" cy="512063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19" y="4632960"/>
            <a:ext cx="512063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4632960"/>
            <a:ext cx="4632960" cy="51206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0">
                <a:solidFill>
                  <a:srgbClr val="333333"/>
                </a:solidFill>
                <a:latin typeface="Calibri"/>
              </a:rPr>
              <a:t>Test alle regler med client.py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Problemet i lektion 4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POST /token/1 → et token. Uden password.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36448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499872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POST /token/1</a:t>
            </a:r>
          </a:p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ourier New"/>
              </a:rPr>
              <a:t>→ {"token": "Bearer eyJ..."}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047999"/>
            <a:ext cx="5364480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169920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Intet password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80" y="3560064"/>
            <a:ext cx="499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Alle, der kan gætte tallet 1, får et gyldigt token.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291584"/>
            <a:ext cx="5364480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80" y="4413504"/>
            <a:ext cx="4998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Token = adgang til alt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80" y="4803648"/>
            <a:ext cx="4998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Ingen forskel på læge, sygeplejerske og admin.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767839"/>
            <a:ext cx="5364480" cy="1767839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760" y="1889759"/>
            <a:ext cx="4876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ptos Serif"/>
              </a:rPr>
              <a:t>Authentication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1760" y="2377439"/>
            <a:ext cx="4876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FFD9DF"/>
                </a:solidFill>
                <a:latin typeface="Calibri"/>
              </a:rPr>
              <a:t>Hvem er du?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1760" y="2865120"/>
            <a:ext cx="4876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401 Unauthorized</a:t>
            </a:r>
            <a:r>
              <a:rPr sz="1600" b="0" i="0">
                <a:solidFill>
                  <a:srgbClr val="FFD9DF"/>
                </a:solidFill>
                <a:latin typeface="Calibri"/>
              </a:rPr>
              <a:t>  log ind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19" y="3718560"/>
            <a:ext cx="5364480" cy="1767839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3840479"/>
            <a:ext cx="4876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FFFFFF"/>
                </a:solidFill>
                <a:latin typeface="Aptos Serif"/>
              </a:rPr>
              <a:t>Authorization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4328159"/>
            <a:ext cx="4876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 i="1">
                <a:solidFill>
                  <a:srgbClr val="FFD9DF"/>
                </a:solidFill>
                <a:latin typeface="Calibri"/>
              </a:rPr>
              <a:t>Hvad må du?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4815839"/>
            <a:ext cx="4876800" cy="48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ourier New"/>
              </a:rPr>
              <a:t>403 Forbidden</a:t>
            </a:r>
            <a:r>
              <a:rPr sz="1600" b="0" i="0">
                <a:solidFill>
                  <a:srgbClr val="FFD9DF"/>
                </a:solidFill>
                <a:latin typeface="Calibri"/>
              </a:rPr>
              <a:t>  at logge ind igen hjælper ikke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Brugere og roller i databasen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ER diagram → CREATE TABLE → hashede passwords (trin 1–3)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ER diagrammet: brugere og roller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To nye tabeller. doctor, hospital og patient er fra del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2926079" cy="548640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316480"/>
            <a:ext cx="2926079" cy="926591"/>
          </a:xfrm>
          <a:prstGeom prst="rect">
            <a:avLst/>
          </a:prstGeom>
          <a:solidFill>
            <a:srgbClr val="FFFFFF"/>
          </a:solidFill>
          <a:ln w="21166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7135" y="2377439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8240" y="2377439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role_id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9775" y="2377439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135" y="2779775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8240" y="2779775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role_name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9775" y="2779775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32960" y="1767839"/>
            <a:ext cx="2926079" cy="548640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2960" y="176783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app_user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32960" y="2316480"/>
            <a:ext cx="2926079" cy="2133600"/>
          </a:xfrm>
          <a:prstGeom prst="rect">
            <a:avLst/>
          </a:prstGeom>
          <a:solidFill>
            <a:srgbClr val="FFFFFF"/>
          </a:solidFill>
          <a:ln w="21166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0496" y="2377439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1599" y="2377439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user_id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03135" y="2377439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30496" y="2779775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81599" y="2779775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username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5" y="2779775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30496" y="3182111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81599" y="3182111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password_hash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03135" y="3182111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30496" y="3584448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FK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81599" y="3584448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role_id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3135" y="3584448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30496" y="3986783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FK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81599" y="3986783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03135" y="3986783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int·null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56319" y="1767839"/>
            <a:ext cx="2926079" cy="548640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56319" y="1767839"/>
            <a:ext cx="2926079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Aptos Serif"/>
              </a:rPr>
              <a:t>doctor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56319" y="2316480"/>
            <a:ext cx="2926079" cy="1731264"/>
          </a:xfrm>
          <a:prstGeom prst="rect">
            <a:avLst/>
          </a:prstGeom>
          <a:solidFill>
            <a:srgbClr val="FFFFFF"/>
          </a:solidFill>
          <a:ln w="21166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53856" y="2377439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PK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4960" y="2377439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26496" y="2377439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3856" y="2779775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04960" y="2779775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doctor_name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26496" y="2779775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text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3856" y="3182111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>FK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04960" y="3182111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hospital_id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26496" y="3182111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>integer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53856" y="3584448"/>
            <a:ext cx="48768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1" i="0">
                <a:solidFill>
                  <a:srgbClr val="0038A8"/>
                </a:solidFill>
                <a:latin typeface="Courier New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04960" y="3584448"/>
            <a:ext cx="158495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26496" y="3584448"/>
            <a:ext cx="73151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66" b="0" i="0">
                <a:solidFill>
                  <a:srgbClr val="5F6B73"/>
                </a:solidFill>
                <a:latin typeface="Courier New"/>
              </a:rPr>
              <a:t/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535679" y="2036064"/>
            <a:ext cx="1097281" cy="0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694175" y="1889759"/>
            <a:ext cx="0" cy="292609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816095" y="1889759"/>
            <a:ext cx="0" cy="292609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28159" y="1877568"/>
            <a:ext cx="304801" cy="158496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28159" y="2036064"/>
            <a:ext cx="304801" cy="158495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4084319" y="1950719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559039" y="2036064"/>
            <a:ext cx="1097280" cy="0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717536" y="1889759"/>
            <a:ext cx="0" cy="292609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497824" y="1889759"/>
            <a:ext cx="0" cy="292609"/>
          </a:xfrm>
          <a:prstGeom prst="line">
            <a:avLst/>
          </a:prstGeom>
          <a:ln w="29633">
            <a:solidFill>
              <a:srgbClr val="A014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7802880" y="1950719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241791" y="1950719"/>
            <a:ext cx="170688" cy="170688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014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9600" y="3352800"/>
            <a:ext cx="2926079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En rolle har mange brugere. En bruger har én rolle.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56319" y="4084320"/>
            <a:ext cx="2926079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En læge har højst én bruger. Admin og nurse har ingen læge.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" y="5364480"/>
            <a:ext cx="10972800" cy="731519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53439" y="5364480"/>
            <a:ext cx="10485119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UNIQUE + FK = one-to-one.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doctor_id er UNIQUE, så to brugere kan ikke være samme læge.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2: role og app_user i SQL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463039"/>
            <a:ext cx="6827519" cy="377951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480" y="1609343"/>
            <a:ext cx="6461760" cy="3535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CREATE TABLE role 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role_id   INTEGER GENERATED ALWAYS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AS IDENTITY PRIMARY KEY,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role_name TEXT NOT NULL UNIQUE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);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INSERT INTO role (role_name)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VALUES ('admin'), ('doctor'), ('nurse');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CREATE TABLE app_user 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user_id  ... PRIMARY KEY,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username TEXT NOT NULL UNIQUE,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password_hash TEXT NOT NULL,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role_id  INTEGER NOT NULL REFERENCES role,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doctor_id INTEGER UNIQUE REFERENCES doctor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);</a:t>
            </a:r>
          </a:p>
        </p:txBody>
      </p:sp>
      <p:sp>
        <p:nvSpPr>
          <p:cNvPr id="6" name="Rectangle 5"/>
          <p:cNvSpPr/>
          <p:nvPr/>
        </p:nvSpPr>
        <p:spPr>
          <a:xfrm>
            <a:off x="7741919" y="1463039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4799" y="1584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Hvorfor ikke user?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4799" y="1975103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USER er reserveret: SELECT user; giver database-brugerens navn.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2755391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2877312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Hvorfor en role-tabel?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3267455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FK'en afviser 'admn'. En tekstkolonne ville tage alt.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4047744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4169664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NULL og UNIQUE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4559808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Flere NULL er tilladt: NULL er ikke lig med noget.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Gem aldrig passwords: gem et hash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En envejsfunktion: nem at regne frem, umulig at regne tilbage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828800"/>
            <a:ext cx="2438400" cy="731519"/>
          </a:xfrm>
          <a:prstGeom prst="roundRect">
            <a:avLst>
              <a:gd name="adj" fmla="val 20000"/>
            </a:avLst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828800"/>
            <a:ext cx="24384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A0142B"/>
                </a:solidFill>
                <a:latin typeface="Courier New"/>
              </a:rPr>
              <a:t>"mette-pass"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30880" y="2023871"/>
            <a:ext cx="365759" cy="341376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79519" y="1828800"/>
            <a:ext cx="3657600" cy="731519"/>
          </a:xfrm>
          <a:prstGeom prst="roundRect">
            <a:avLst>
              <a:gd name="adj" fmla="val 20000"/>
            </a:avLst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9519" y="1828800"/>
            <a:ext cx="3657600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FFFFFF"/>
                </a:solidFill>
                <a:latin typeface="Courier New"/>
              </a:rPr>
              <a:t>generate_password_hash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619999" y="2023871"/>
            <a:ext cx="365759" cy="341376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68640" y="1828800"/>
            <a:ext cx="3413759" cy="731519"/>
          </a:xfrm>
          <a:prstGeom prst="roundRect">
            <a:avLst>
              <a:gd name="adj" fmla="val 20000"/>
            </a:avLst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68640" y="1828800"/>
            <a:ext cx="3413759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FFFFFF"/>
                </a:solidFill>
                <a:latin typeface="Courier New"/>
              </a:rPr>
              <a:t>scrypt:…$salt$hash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3047999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A0142B"/>
                </a:solidFill>
                <a:latin typeface="Courier New"/>
              </a:rPr>
              <a:t>scrypt:32768:8:1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3474720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algoritme og hvor dyr den 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8159" y="3047999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0038A8"/>
                </a:solidFill>
                <a:latin typeface="Courier New"/>
              </a:rPr>
              <a:t>jK0yzOuzAAhOfY4R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159" y="3474720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salt: tilfældig, ny hver gang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9" y="3047999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1" i="0">
                <a:solidFill>
                  <a:srgbClr val="D93349"/>
                </a:solidFill>
                <a:latin typeface="Courier New"/>
              </a:rPr>
              <a:t>651b38ea62a3…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9" y="3474720"/>
            <a:ext cx="347472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selve hashet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14528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A0142B"/>
                </a:solidFill>
                <a:latin typeface="Calibri"/>
              </a:rPr>
              <a:t>Hvorfor?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Databaser bliver lækket, og folk genbruger passwords. Et læk fra din app må ikke åbne deres e-mail og netbank.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364480"/>
            <a:ext cx="10972800" cy="731519"/>
          </a:xfrm>
          <a:prstGeom prst="rect">
            <a:avLst/>
          </a:prstGeom>
          <a:solidFill>
            <a:srgbClr val="FDE8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3439" y="5364480"/>
            <a:ext cx="10485119" cy="73151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C0392B"/>
                </a:solidFill>
                <a:latin typeface="Calibri"/>
              </a:rPr>
              <a:t>Aldrig hashlib.sha256(password):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den er lynhurtig og uden salt. Brug en password-funktion: scrypt, argon2 eller bcrypt.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3.1: salt i praksis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Samme password, to forskellige hashes. Begge passer.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3352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31089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h1 = generate_password_hash("mette-pass")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h2 = generate_password_hash("mette-pass")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h1 == h2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False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check_password_hash(h1, "mette-pass")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True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check_password_hash(h2, "mette-pass")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True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&gt;&gt;&gt; check_password_hash(h1, "Mette-pass")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Hvordan kan login virke?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check_password_hash læser salt fra hashet og regner igen.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Hvad vinder vi?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Ingen kan se, at to brugere har samme password.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Langsom med vilje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Én login mærker det ikke. Milliarder af gæt gør.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364480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D93349"/>
                </a:solidFill>
                <a:latin typeface="Calibri"/>
              </a:rPr>
              <a:t>Trin 3.2: create_users() hasher hvert password, før det indsættes med executemany().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Login og tokens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POST /login, JWT og verify_token (trin 4–5)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Login-flowet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Log ind én gang, og send tokenet med ved hver request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645920"/>
            <a:ext cx="2560320" cy="548640"/>
          </a:xfrm>
          <a:prstGeom prst="roundRect">
            <a:avLst>
              <a:gd name="adj" fmla="val 26666"/>
            </a:avLst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645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Aptos Serif"/>
              </a:rPr>
              <a:t>klient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89759" y="2194560"/>
            <a:ext cx="0" cy="3840480"/>
          </a:xfrm>
          <a:prstGeom prst="line">
            <a:avLst/>
          </a:prstGeom>
          <a:ln w="16933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54879" y="1645920"/>
            <a:ext cx="2560320" cy="548640"/>
          </a:xfrm>
          <a:prstGeom prst="roundRect">
            <a:avLst>
              <a:gd name="adj" fmla="val 26666"/>
            </a:avLst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79" y="1645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Aptos Serif"/>
              </a:rPr>
              <a:t>server (Flask)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35040" y="2194560"/>
            <a:ext cx="0" cy="3840480"/>
          </a:xfrm>
          <a:prstGeom prst="line">
            <a:avLst/>
          </a:prstGeom>
          <a:ln w="16933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22080" y="1645920"/>
            <a:ext cx="2560320" cy="548640"/>
          </a:xfrm>
          <a:prstGeom prst="roundRect">
            <a:avLst>
              <a:gd name="adj" fmla="val 26666"/>
            </a:avLst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22080" y="1645920"/>
            <a:ext cx="25603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60" b="1" i="0">
                <a:solidFill>
                  <a:srgbClr val="FFFFFF"/>
                </a:solidFill>
                <a:latin typeface="Aptos Serif"/>
              </a:rPr>
              <a:t>database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02240" y="2194560"/>
            <a:ext cx="0" cy="3840480"/>
          </a:xfrm>
          <a:prstGeom prst="line">
            <a:avLst/>
          </a:prstGeom>
          <a:ln w="16933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889759" y="2743200"/>
            <a:ext cx="4145281" cy="0"/>
          </a:xfrm>
          <a:prstGeom prst="line">
            <a:avLst/>
          </a:prstGeom>
          <a:ln w="33866">
            <a:solidFill>
              <a:srgbClr val="D93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011680" y="2377439"/>
            <a:ext cx="39014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POST /login {username, password}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35040" y="3230880"/>
            <a:ext cx="4267200" cy="0"/>
          </a:xfrm>
          <a:prstGeom prst="line">
            <a:avLst/>
          </a:prstGeom>
          <a:ln w="33866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56959" y="2865120"/>
            <a:ext cx="40233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get_user_by_username()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1889759" y="3718560"/>
            <a:ext cx="4145281" cy="0"/>
          </a:xfrm>
          <a:prstGeom prst="line">
            <a:avLst/>
          </a:prstGeom>
          <a:ln w="33866">
            <a:solidFill>
              <a:srgbClr val="2E8B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011680" y="3352800"/>
            <a:ext cx="39014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{"token": "eyJ..."}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89759" y="4572000"/>
            <a:ext cx="4145281" cy="0"/>
          </a:xfrm>
          <a:prstGeom prst="line">
            <a:avLst/>
          </a:prstGeom>
          <a:ln w="33866">
            <a:solidFill>
              <a:srgbClr val="D933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011680" y="4206240"/>
            <a:ext cx="39014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GET /patients (Bearer eyJ...)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35040" y="5059680"/>
            <a:ext cx="4267200" cy="0"/>
          </a:xfrm>
          <a:prstGeom prst="line">
            <a:avLst/>
          </a:prstGeom>
          <a:ln w="33866">
            <a:solidFill>
              <a:srgbClr val="5F6B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56959" y="4693920"/>
            <a:ext cx="4023359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verify_token() → get_user()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1889759" y="5791200"/>
            <a:ext cx="4145281" cy="0"/>
          </a:xfrm>
          <a:prstGeom prst="line">
            <a:avLst/>
          </a:prstGeom>
          <a:ln w="33866">
            <a:solidFill>
              <a:srgbClr val="0038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11680" y="5425440"/>
            <a:ext cx="39014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200 [...]   eller   401 / 403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JSON Web Token (JWT)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Tre base64-dele adskilt af punktum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" y="1767839"/>
            <a:ext cx="3474720" cy="548640"/>
          </a:xfrm>
          <a:prstGeom prst="roundRect">
            <a:avLst>
              <a:gd name="adj" fmla="val 26666"/>
            </a:avLst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ptos Serif"/>
              </a:rPr>
              <a:t>header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2438400"/>
            <a:ext cx="347472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2584704"/>
            <a:ext cx="310896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{"alg": "HS256"}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8159" y="1767839"/>
            <a:ext cx="3474720" cy="548640"/>
          </a:xfrm>
          <a:prstGeom prst="roundRect">
            <a:avLst>
              <a:gd name="adj" fmla="val 26666"/>
            </a:avLst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8159" y="17678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ptos Serif"/>
              </a:rPr>
              <a:t>payload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159" y="2438400"/>
            <a:ext cx="347472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39" y="2584704"/>
            <a:ext cx="310896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{"sub": "2",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"exp": 1791...}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19" y="1767839"/>
            <a:ext cx="3474720" cy="548640"/>
          </a:xfrm>
          <a:prstGeom prst="roundRect">
            <a:avLst>
              <a:gd name="adj" fmla="val 26666"/>
            </a:avLst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19" y="1767839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79" b="1" i="0">
                <a:solidFill>
                  <a:srgbClr val="FFFFFF"/>
                </a:solidFill>
                <a:latin typeface="Aptos Serif"/>
              </a:rPr>
              <a:t>signatur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19" y="2438400"/>
            <a:ext cx="347472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2584704"/>
            <a:ext cx="310896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HMAC(header.payload,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SECRET_KEY)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09600" y="3779519"/>
          <a:ext cx="8290560" cy="1389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4876800"/>
                <a:gridCol w="2194560"/>
              </a:tblGrid>
              <a:tr h="463295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Betydning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Hos os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</a:tr>
              <a:tr h="46329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sub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subject: hvem tokenet handler om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user_id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6329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ourier New"/>
                        </a:rPr>
                        <a:t>exp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udløbstid, sekunder siden 1970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nu + 30 min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9144000" y="3779519"/>
            <a:ext cx="2438400" cy="1389887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3901440"/>
            <a:ext cx="207264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Ikke krypteret!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4291584"/>
            <a:ext cx="2072640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Alle kan læse payload. Ingen hemmeligheder i 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5364480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Ændrer nogen ét tegn i payload, passer signaturen ikke → 401. Kun serveren kender SECRET_KEY, så kun den kan lave gyldige tokens.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Tokens med joserfc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Efterfølgeren til authlib.jose fra lektion 4 (samme forfatter)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3169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create_token(user_id: int) -&gt; str: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payload = {"sub": str(user_id),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"exp": int(time.time()) + 30 * 60}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jwt.encode({"alg": "HS256"}, payload,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      SECRET_KEY)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def read_token(token: str) -&gt; int | None: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try: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claims = jwt.decode(token, SECRET_KEY).claims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REQUIRED_CLAIMS.validate(claims)   # exp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except JoseError: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return None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return int(claims["sub"])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41919" y="1767839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Rollen er ikke i tokenet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4799" y="2279904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Vi slår brugeren op ved hver request. En ændret rolle virker med det samme.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41919" y="3060191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24799" y="3182111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SECRET_KEY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799" y="3572255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Ny ved hver genstart: alle gamle tokens bliver ugyldige.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41919" y="4352544"/>
            <a:ext cx="3840479" cy="1194816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4799" y="4474464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"Bearer 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799" y="4864608"/>
            <a:ext cx="347472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Nu skriver klienten det, ikke serveren. /docs gør det for dig.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5181599"/>
            <a:ext cx="6827519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D93349"/>
                </a:solidFill>
                <a:latin typeface="Calibri"/>
              </a:rPr>
              <a:t>create_token og read_token er færdige i auth.py. Læs dem, før du skriver verify_token.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Hvad sker der ved @app.auth_required?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APIFlask kalder dine funktioner i denne rækkefølge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828800"/>
            <a:ext cx="2438400" cy="1463039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950720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A0142B"/>
                </a:solidFill>
                <a:latin typeface="Courier New"/>
              </a:rPr>
              <a:t>Authorization-header?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26212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Calibri"/>
              </a:rPr>
              <a:t>nej → 401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96768" y="2414015"/>
            <a:ext cx="268224" cy="292607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13759" y="1828800"/>
            <a:ext cx="2438400" cy="1463039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679" y="1950720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A0142B"/>
                </a:solidFill>
                <a:latin typeface="Courier New"/>
              </a:rPr>
              <a:t>verify_token()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5679" y="26212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Calibri"/>
              </a:rPr>
              <a:t>None → 401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00928" y="2414015"/>
            <a:ext cx="268224" cy="292607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19" y="1828800"/>
            <a:ext cx="2438400" cy="1463039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9839" y="1950720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A0142B"/>
                </a:solidFill>
                <a:latin typeface="Courier New"/>
              </a:rPr>
              <a:t>get_user_roles()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839" y="26212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C0392B"/>
                </a:solidFill>
                <a:latin typeface="Calibri"/>
              </a:rPr>
              <a:t>forkert rolle → 403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705088" y="2414015"/>
            <a:ext cx="268224" cy="292607"/>
          </a:xfrm>
          <a:prstGeom prst="rightArrow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22079" y="1828800"/>
            <a:ext cx="2438400" cy="1463039"/>
          </a:xfrm>
          <a:prstGeom prst="rect">
            <a:avLst/>
          </a:prstGeom>
          <a:solidFill>
            <a:srgbClr val="A01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3999" y="1950720"/>
            <a:ext cx="219456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66" b="1" i="0">
                <a:solidFill>
                  <a:srgbClr val="FFFFFF"/>
                </a:solidFill>
                <a:latin typeface="Courier New"/>
              </a:rPr>
              <a:t>dit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3999" y="2621279"/>
            <a:ext cx="2194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FD9DF"/>
                </a:solidFill>
                <a:latin typeface="Calibri"/>
              </a:rPr>
              <a:t>auth.current_user = user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3657600"/>
            <a:ext cx="10972800" cy="15849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480" y="3803904"/>
            <a:ext cx="10607039" cy="1341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@auth.verify_token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def verify_token(token: str) -&gt; dict | None: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user_id = read_token(token)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    return None if user_id is None else get_user(user_id)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Den dict, verify_token returnerer, er den samme som auth.current_user inde i endpointet.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Role-based access control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Roller, rækker og sikkerhed (trin 6–7)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Rettigheder gives til roller. Personer får en rolle.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1767839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admin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doctor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nurse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1">
                          <a:solidFill>
                            <a:srgbClr val="FFFFFF"/>
                          </a:solidFill>
                          <a:latin typeface="Calibri"/>
                        </a:rPr>
                        <a:t>uden token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POST /login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GET /me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GET /patients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GET /my_patients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ourier New"/>
                        </a:rPr>
                        <a:t>DELETE /patients/&lt;id&gt;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33" b="0">
                          <a:solidFill>
                            <a:srgbClr val="333333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5303519"/>
            <a:ext cx="1097280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A0142B"/>
                </a:solidFill>
                <a:latin typeface="Calibri"/>
              </a:rPr>
              <a:t>Least privilege: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hver rolle får så få rettigheder som muligt. En læge behøver ikke se alle patienter.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6: roller i APIFlask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Reglen står direkte på endpointet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@app.get("/patients")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@app.auth_required(auth, roles=["admin", "nurse"])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patients() -&gt; list[dict]: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 all_patients()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779519"/>
            <a:ext cx="6827519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925823"/>
            <a:ext cx="6461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@auth.get_user_roles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def get_user_roles(user: dict) -&gt; str: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 user["role_name"]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roles=[...]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Brugeren skal have én af rollerne på listen.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Én gang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get_user_roles fortæller APIFlask, hvor rollen står.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Tjek på serveren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At skjule en knap beskytter intet. Alle kan sende en request.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Rolle er ikke nok: hvilke rækker?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doctor må se patienter, men kun sine egne</a:t>
            </a:r>
          </a:p>
        </p:txBody>
      </p:sp>
      <p:sp>
        <p:nvSpPr>
          <p:cNvPr id="5" name="Oval 4"/>
          <p:cNvSpPr/>
          <p:nvPr/>
        </p:nvSpPr>
        <p:spPr>
          <a:xfrm>
            <a:off x="609600" y="1767839"/>
            <a:ext cx="548640" cy="548640"/>
          </a:xfrm>
          <a:prstGeom prst="ellipse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1120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2E8B57"/>
                </a:solidFill>
                <a:latin typeface="Aptos Serif"/>
              </a:rPr>
              <a:t>Id fra tokenet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499359"/>
            <a:ext cx="5364480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2645664"/>
            <a:ext cx="499872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@app.get("/my_patients")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@app.auth_required(auth, roles=["doctor"])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def my_patients():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    doctor_id = auth.current_user["doctor_id"]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    return patients_of_doctor(doctor_id)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511040"/>
            <a:ext cx="536448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Brugeren kan ikke ændre, hvem den er.</a:t>
            </a:r>
          </a:p>
        </p:txBody>
      </p:sp>
      <p:sp>
        <p:nvSpPr>
          <p:cNvPr id="11" name="Oval 10"/>
          <p:cNvSpPr/>
          <p:nvPr/>
        </p:nvSpPr>
        <p:spPr>
          <a:xfrm>
            <a:off x="6217919" y="1767839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19" y="176783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39" y="1767839"/>
            <a:ext cx="46329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60" b="1" i="0">
                <a:solidFill>
                  <a:srgbClr val="C0392B"/>
                </a:solidFill>
                <a:latin typeface="Aptos Serif"/>
              </a:rPr>
              <a:t>Id fra URL'en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19" y="2499359"/>
            <a:ext cx="5364480" cy="18288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645664"/>
            <a:ext cx="4998720" cy="1584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@app.get("/patients_of_doctor/&lt;int:doctor_id&gt;")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@app.auth_required(auth, roles=["doctor"])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def patients_of(doctor_id):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333333"/>
                </a:solidFill>
                <a:latin typeface="Courier New"/>
              </a:rPr>
              <a:t>    return patients_of_doctor(doctor_id)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19" y="4511040"/>
            <a:ext cx="536448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0">
                <a:solidFill>
                  <a:srgbClr val="333333"/>
                </a:solidFill>
                <a:latin typeface="Calibri"/>
              </a:rPr>
              <a:t>Mette skriver /patients_of_doctor/2 og ser Jonas' patienter.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5486400"/>
            <a:ext cx="109728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1">
                <a:solidFill>
                  <a:srgbClr val="5F6B73"/>
                </a:solidFill>
                <a:latin typeface="Calibri"/>
              </a:rPr>
              <a:t>Det kaldes adgang på række-niveau. OWASP kalder fejlen "Insecure Direct Object Reference".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dict_row: rækker som dicts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Et API sender JSON, og JSON har navne på felterne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10972800" cy="13411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1060703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from psycopg.rows import dict_row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ourier New"/>
              </a:rPr>
              <a:t>with get_connection() as conn, conn.cursor(row_factory=dict_row) as cursor: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13759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5F6B73"/>
                </a:solidFill>
                <a:latin typeface="Aptos Serif"/>
              </a:rPr>
              <a:t>Uden dict_row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3901440"/>
            <a:ext cx="536448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80" y="4047744"/>
            <a:ext cx="499872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(2, 'mette', 1, 'doctor')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19" y="3413759"/>
            <a:ext cx="536448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D93349"/>
                </a:solidFill>
                <a:latin typeface="Aptos Serif"/>
              </a:rPr>
              <a:t>Med dict_row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19" y="3901440"/>
            <a:ext cx="5364480" cy="109728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047744"/>
            <a:ext cx="499872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{'user_id': 2, 'username': 'mette',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'doctor_id': 1, 'role_name': 'doctor'}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5303519"/>
            <a:ext cx="10972800" cy="731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5F6B73"/>
                </a:solidFill>
                <a:latin typeface="Calibri"/>
              </a:rPr>
              <a:t>Flask laver en dict eller en liste af dicts om til JSON automatisk. user["role_name"] er lettere at læse end user[3].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Tjekliste: sikkerhed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10972800" cy="40111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73023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✓ Gør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✕ Undgå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Gem kun password_hash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at gemme eller logge passwords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Samme fejl for brugernavn og password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"Brugeren findes ikke"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get_user() uden password_hash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at sende hashet ud i et API-svar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Tokens med exp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tokens, der gælder for evigt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"Databasefejl" til klienten, detaljer i loggen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databasens fejlbesked til klienten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73023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HTTPS i produktion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333333"/>
                          </a:solidFill>
                          <a:latin typeface="Calibri"/>
                        </a:rPr>
                        <a:t>bearer tokens over almindelig HTTP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19" y="2499359"/>
            <a:ext cx="10728960" cy="1097280"/>
          </a:xfrm>
        </p:spPr>
        <p:txBody>
          <a:bodyPr wrap="square" anchor="b" lIns="0" rIns="0" tIns="0" bIns="0"/>
          <a:lstStyle/>
          <a:p>
            <a:r>
              <a:rPr sz="4800"/>
              <a:t>Sådan løser du trin 4–7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19" y="3718560"/>
            <a:ext cx="10728960" cy="731519"/>
          </a:xfrm>
        </p:spPr>
        <p:txBody>
          <a:bodyPr wrap="square" anchor="t" lIns="0" rIns="0" tIns="0" bIns="0"/>
          <a:lstStyle/>
          <a:p>
            <a:r>
              <a:rPr sz="2400"/>
              <a:t>Mønstre, hints og de tjek, du skal kigge efter</a:t>
            </a:r>
          </a:p>
        </p:txBody>
      </p:sp>
      <p:sp>
        <p:nvSpPr>
          <p:cNvPr id="4" name="Oval 3"/>
          <p:cNvSpPr/>
          <p:nvPr/>
        </p:nvSpPr>
        <p:spPr>
          <a:xfrm>
            <a:off x="731519" y="1463039"/>
            <a:ext cx="853439" cy="853439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19" y="1463039"/>
            <a:ext cx="853439" cy="85343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4: check_login og POST /login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flask --app app run --port 5001 --debug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user = get_user_by_username(username)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if user is None or not check_password_hash(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user["password_hash"], password):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 None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 user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596640"/>
            <a:ext cx="6827519" cy="16459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742944"/>
            <a:ext cx="6461760" cy="1402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user = check_login(json_data["username"],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        json_data["password"])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if user is None: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abort(401, "Forkert brugernavn eller password")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 {"token": create_token(user["user_id"])}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Port 5001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Lektion 4-appen bruger 5000.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--debug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Genstarter ved hver gemning. Nye tokens efter genstart!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4.4 test i /docs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Rigtigt login: 200. Forkert password og ukendt bruger: samme 401.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5: get_user, verify_token og Authorize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Og se, hvad der står i dit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12192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975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user_id = read_token(token)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if user_id is None: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return None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return get_user(user_id)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3169920"/>
            <a:ext cx="6827519" cy="1767839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3316224"/>
            <a:ext cx="6461760" cy="1523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&gt;&gt;&gt; import base64, json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&gt;&gt;&gt; header, payload, signature = token.split(".")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&gt;&gt;&gt; json.loads(base64.urlsafe_b64decode(payload + "=="))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{'sub': '2', 'exp': 1791...}</a:t>
            </a:r>
          </a:p>
        </p:txBody>
      </p:sp>
      <p:sp>
        <p:nvSpPr>
          <p:cNvPr id="9" name="Rectangle 8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5.1 get_user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Som get_user_by_username, men uden password_hash og med WHERE user_id.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5.3 Authorize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Indsæt kun tokenet. /docs skriver "Bearer " foran.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5.5 ret ét tegn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Signaturen passer ikke → 401.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5181599"/>
            <a:ext cx="10972800" cy="853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1" i="0">
                <a:solidFill>
                  <a:srgbClr val="2E8B57"/>
                </a:solidFill>
                <a:latin typeface="Calibri"/>
              </a:rPr>
              <a:t>✅ Tjek: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GET /me med token → {"username": "mette", "role": "doctor"}. Uden token → 401.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6: roller og egne patienter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6.1 get_user_roles · 6.3 patients_of_doctor · 6.4 roles=[...]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6827519" cy="21945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6461760" cy="195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query = t"""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SELECT patient_id, first_name, last_name,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       age, blood_type, allergies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FROM patient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WHERE doctor_id = {doctor_id}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    ORDER BY patient_id</a:t>
            </a:r>
          </a:p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ourier New"/>
              </a:rPr>
              <a:t>"""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4206240"/>
          <a:ext cx="682752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3657600"/>
              </a:tblGrid>
              <a:tr h="402336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roles=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/patients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["admin", "nurse"]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/my_patients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["doctor"]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DELETE /patients/&lt;id&gt;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["admin"]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741919" y="1767839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4799" y="1889759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dict_row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4799" y="22799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Samme with-linje som i all_patients.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41919" y="29870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4799" y="31089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6.5 test som nina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799" y="34991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/patients → 200, /my_patients → 403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19" y="4206240"/>
            <a:ext cx="3840479" cy="109728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4799" y="4328160"/>
            <a:ext cx="347472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79" b="1" i="0">
                <a:solidFill>
                  <a:srgbClr val="A0142B"/>
                </a:solidFill>
                <a:latin typeface="Aptos Serif"/>
              </a:rPr>
              <a:t>6.5 test som mette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799" y="4718304"/>
            <a:ext cx="3474720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66" b="0" i="0">
                <a:solidFill>
                  <a:srgbClr val="333333"/>
                </a:solidFill>
                <a:latin typeface="Calibri"/>
              </a:rPr>
              <a:t>/my_patients → Kevin, Karen, Erik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Trin 7: test alle regler med client.py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Lad app'en køre, og kør uv run client.py i en anden terminal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5242559" cy="219456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480" y="1914143"/>
            <a:ext cx="4876800" cy="195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credentials = {"username": username,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"password": password}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response = requests.post(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f"{API_URL}/login",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json=credentials, timeout=5)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response.raise_for_status()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return response.json()["token"]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4145280"/>
            <a:ext cx="5242559" cy="91440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480" y="4291584"/>
            <a:ext cx="4876800" cy="670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headers = ({"Authorization": f"Bearer {token}"}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if token else {})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5999" y="1767839"/>
            <a:ext cx="5486400" cy="2560320"/>
          </a:xfrm>
          <a:prstGeom prst="rect">
            <a:avLst/>
          </a:prstGeom>
          <a:solidFill>
            <a:srgbClr val="F2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78880" y="1914143"/>
            <a:ext cx="5120640" cy="2316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                admin mette  nina uden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GET /me          200   200   200  401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GET /patients    200   403   200  401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GET /my_patients 403   200   403  401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DELETE …/999     404   403   403  401</a:t>
            </a:r>
          </a:p>
          <a:p>
            <a:pPr algn="l">
              <a:spcAft>
                <a:spcPts val="0"/>
              </a:spcAft>
            </a:pPr>
            <a:r>
              <a:rPr sz="1333" b="0" i="0">
                <a:solidFill>
                  <a:srgbClr val="333333"/>
                </a:solidFill>
                <a:latin typeface="Courier New"/>
              </a:rPr>
              <a:t>Forkert password giver: 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5999" y="4511040"/>
            <a:ext cx="5486400" cy="1463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33" b="0" i="1">
                <a:solidFill>
                  <a:srgbClr val="D93349"/>
                </a:solidFill>
                <a:latin typeface="Calibri"/>
              </a:rPr>
              <a:t>Tabellen er en test: ændrer nogen en roles=[...] ved en fejl, ændrer tabellen sig. I del 4 automatiserer vi det med pytest.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Almindelige fejl og hvad de betyder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1463039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08320"/>
                <a:gridCol w="5364480"/>
              </a:tblGrid>
              <a:tr h="548640"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Du ser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1">
                          <a:solidFill>
                            <a:srgbClr val="FFFFFF"/>
                          </a:solidFill>
                          <a:latin typeface="Calibri"/>
                        </a:rPr>
                        <a:t>Det betyder</a:t>
                      </a:r>
                    </a:p>
                  </a:txBody>
                  <a:tcPr marL="97536" marR="97536" marT="36575" marB="36575" anchor="ctr">
                    <a:solidFill>
                      <a:srgbClr val="A0142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No module named 'apiflask'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kør uv sync i sundhedsapp_postgres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Address already in use / port 5000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husk --port 5001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401 efter du gemte en fil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--debug genstartede serveren: log ind igen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500 + NotImplementedError: trin …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godt! Skriv det trin, der står i terminalen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NotNullViolation: role_id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rollenavnet findes ikke i role (stavefejl?)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relation "role" does not exist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kør schema.sql (trin 2) igen</a:t>
                      </a:r>
                    </a:p>
                  </a:txBody>
                  <a:tcPr marL="97536" marR="97536" marT="36575" marB="36575" anchor="ctr">
                    <a:solidFill>
                      <a:srgbClr val="FFE6D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ourier New"/>
                        </a:rPr>
                        <a:t>ConnectionError i client.py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66" b="0">
                          <a:solidFill>
                            <a:srgbClr val="333333"/>
                          </a:solidFill>
                          <a:latin typeface="Calibri"/>
                        </a:rPr>
                        <a:t>app'en kører ikke på port 5001</a:t>
                      </a:r>
                    </a:p>
                  </a:txBody>
                  <a:tcPr marL="97536" marR="97536" marT="36575" marB="365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Læs mere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487423"/>
            <a:ext cx="11460480" cy="47061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950976"/>
            <a:ext cx="1097280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66" b="0" i="1">
                <a:solidFill>
                  <a:srgbClr val="FFFFFF"/>
                </a:solidFill>
                <a:latin typeface="Calibri"/>
              </a:rPr>
              <a:t>Alle links står også nederst i theory.md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767839"/>
            <a:ext cx="3474720" cy="365760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A0142B"/>
                </a:solidFill>
                <a:latin typeface="Aptos Serif"/>
              </a:rPr>
              <a:t>Login og tokens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2"/>
              </a:rPr>
              <a:t>APIFlask: authentication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3"/>
              </a:rPr>
              <a:t>Flask-HTTPAuth: roles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4"/>
              </a:rPr>
              <a:t>joserfc: JWT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5"/>
              </a:rPr>
              <a:t>RFC 7519: JWT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8159" y="1767839"/>
            <a:ext cx="3474720" cy="365760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A0142B"/>
                </a:solidFill>
                <a:latin typeface="Aptos Serif"/>
              </a:rPr>
              <a:t>Sikkerhed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6"/>
              </a:rPr>
              <a:t>Werkzeug: password hash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7"/>
              </a:rPr>
              <a:t>OWASP: password storage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8"/>
              </a:rPr>
              <a:t>OWASP: authentication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9"/>
              </a:rPr>
              <a:t>OWASP: authorization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9" y="1767839"/>
            <a:ext cx="3474720" cy="365760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0560" y="1950720"/>
            <a:ext cx="3047999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20" b="1" i="0">
                <a:solidFill>
                  <a:srgbClr val="A0142B"/>
                </a:solidFill>
                <a:latin typeface="Aptos Serif"/>
              </a:rPr>
              <a:t>PostgreSQL og psycopg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2499359"/>
            <a:ext cx="3047999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10"/>
              </a:rPr>
              <a:t>SQL key words (USER)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11"/>
              </a:rPr>
              <a:t>UNIQUE constraints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12"/>
              </a:rPr>
              <a:t>psycopg: row factories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13"/>
              </a:rPr>
              <a:t>MDN: 401</a:t>
            </a:r>
          </a:p>
          <a:p>
            <a:pPr algn="l">
              <a:spcAft>
                <a:spcPts val="933"/>
              </a:spcAft>
            </a:pPr>
            <a:r>
              <a:rPr sz="1733" b="0" i="0">
                <a:solidFill>
                  <a:srgbClr val="D93349"/>
                </a:solidFill>
                <a:latin typeface="Calibri"/>
                <a:hlinkClick r:id="rId14"/>
              </a:rPr>
              <a:t>MDN: 403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43840"/>
            <a:ext cx="10972800" cy="670560"/>
          </a:xfrm>
        </p:spPr>
        <p:txBody>
          <a:bodyPr wrap="square" anchor="t" lIns="0" rIns="0" tIns="0" bIns="0"/>
          <a:lstStyle/>
          <a:p>
            <a:r>
              <a:rPr sz="3733"/>
              <a:t>Din tur: exercise.md, trin 4–7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59" y="1280160"/>
            <a:ext cx="11460480" cy="49133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584960"/>
            <a:ext cx="2560320" cy="219456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3439" y="1828800"/>
            <a:ext cx="548640" cy="548640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3439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39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0142B"/>
                </a:solidFill>
                <a:latin typeface="Calibri"/>
              </a:rPr>
              <a:t>Login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39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check_login + /login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9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13759" y="1584960"/>
            <a:ext cx="2560320" cy="219456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57600" y="1828800"/>
            <a:ext cx="548640" cy="548640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0142B"/>
                </a:solidFill>
                <a:latin typeface="Calibri"/>
              </a:rPr>
              <a:t>Token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verify_token + /me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7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19" y="1584960"/>
            <a:ext cx="2560320" cy="219456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61760" y="1828800"/>
            <a:ext cx="548640" cy="548640"/>
          </a:xfrm>
          <a:prstGeom prst="ellipse">
            <a:avLst/>
          </a:prstGeom>
          <a:solidFill>
            <a:srgbClr val="D933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176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76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0142B"/>
                </a:solidFill>
                <a:latin typeface="Calibri"/>
              </a:rPr>
              <a:t>Roller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76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roles=[...]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76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8 min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2079" y="1584960"/>
            <a:ext cx="2560320" cy="2194560"/>
          </a:xfrm>
          <a:prstGeom prst="rect">
            <a:avLst/>
          </a:prstGeom>
          <a:solidFill>
            <a:srgbClr val="FFE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65920" y="1828800"/>
            <a:ext cx="548640" cy="548640"/>
          </a:xfrm>
          <a:prstGeom prst="ellipse">
            <a:avLst/>
          </a:prstGeom>
          <a:solidFill>
            <a:srgbClr val="0038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65920" y="18288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66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5920" y="2560320"/>
            <a:ext cx="2194560" cy="4267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A0142B"/>
                </a:solidFill>
                <a:latin typeface="Calibri"/>
              </a:rPr>
              <a:t>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5920" y="2950464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client.py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5920" y="3291840"/>
            <a:ext cx="2194560" cy="3657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F6B73"/>
                </a:solidFill>
                <a:latin typeface="Calibri"/>
              </a:rPr>
              <a:t>6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4206240"/>
            <a:ext cx="10972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A0142B"/>
                </a:solidFill>
                <a:latin typeface="Calibri"/>
              </a:rPr>
              <a:t>Hav to terminaler åbne: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én med flask run --port 5001 --debug, og én til uv run og client.py.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A0142B"/>
                </a:solidFill>
                <a:latin typeface="Calibri"/>
              </a:rPr>
              <a:t>Sidder du fast?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1) læs fejlen i flask-terminalen  2) læs TODO-hintet  3) find slidet for trinnet  4) kig i solution/</a:t>
            </a:r>
          </a:p>
          <a:p>
            <a:pPr algn="l">
              <a:spcAft>
                <a:spcPts val="1333"/>
              </a:spcAft>
            </a:pPr>
            <a:r>
              <a:rPr sz="1866" b="1" i="0">
                <a:solidFill>
                  <a:srgbClr val="A0142B"/>
                </a:solidFill>
                <a:latin typeface="Calibri"/>
              </a:rPr>
              <a:t>Færdig før tid? </a:t>
            </a:r>
            <a:r>
              <a:rPr sz="1866" b="0" i="0">
                <a:solidFill>
                  <a:srgbClr val="333333"/>
                </a:solidFill>
                <a:latin typeface="Calibri"/>
              </a:rPr>
              <a:t>Ekstraopgaver: udløb, POST /patients, skift password, flere roller,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æsentation3" id="{47A70E4D-E829-6142-8D7A-266DF559A7A1}" vid="{F2789681-2020-6642-AFF1-73227AA778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74AD318EC2E9B40AD8B7049EB16B85E" ma:contentTypeVersion="18" ma:contentTypeDescription="Opret et nyt dokument." ma:contentTypeScope="" ma:versionID="3d26f90c7d90d461162d5f348dd417a7">
  <xsd:schema xmlns:xsd="http://www.w3.org/2001/XMLSchema" xmlns:xs="http://www.w3.org/2001/XMLSchema" xmlns:p="http://schemas.microsoft.com/office/2006/metadata/properties" xmlns:ns2="23d56eaa-9f9a-4503-9a32-c18a3a465a0b" xmlns:ns3="8f5a357d-d106-42fe-9dda-037744778dbb" targetNamespace="http://schemas.microsoft.com/office/2006/metadata/properties" ma:root="true" ma:fieldsID="9665d199feccd5b7922aceb2e400657f" ns2:_="" ns3:_="">
    <xsd:import namespace="23d56eaa-9f9a-4503-9a32-c18a3a465a0b"/>
    <xsd:import namespace="8f5a357d-d106-42fe-9dda-037744778d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d56eaa-9f9a-4503-9a32-c18a3a465a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9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0" nillable="true" ma:displayName="Location" ma:description="" ma:internalName="MediaServiceLocatio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Billedmærker" ma:readOnly="false" ma:fieldId="{5cf76f15-5ced-4ddc-b409-7134ff3c332f}" ma:taxonomyMulti="true" ma:sspId="61593edc-fe69-4ff2-86d1-67b90c929e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a357d-d106-42fe-9dda-037744778db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f654023-ba1f-491e-9e42-068efaed9164}" ma:internalName="TaxCatchAll" ma:showField="CatchAllData" ma:web="8f5a357d-d106-42fe-9dda-037744778d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7" ma:displayName="Indholdstype"/>
        <xsd:element ref="dc:title" minOccurs="0" maxOccurs="1" ma:index="3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f5a357d-d106-42fe-9dda-037744778dbb" xsi:nil="true"/>
    <lcf76f155ced4ddcb4097134ff3c332f xmlns="23d56eaa-9f9a-4503-9a32-c18a3a465a0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A834366C-A292-4D01-AFBA-DE8A74F09A66}"/>
</file>

<file path=customXml/itemProps2.xml><?xml version="1.0" encoding="utf-8"?>
<ds:datastoreItem xmlns:ds="http://schemas.openxmlformats.org/officeDocument/2006/customXml" ds:itemID="{8CFC123B-1928-4CD9-AC5A-F026DF92D7CA}"/>
</file>

<file path=customXml/itemProps3.xml><?xml version="1.0" encoding="utf-8"?>
<ds:datastoreItem xmlns:ds="http://schemas.openxmlformats.org/officeDocument/2006/customXml" ds:itemID="{138E7D14-521D-4692-AEBE-C1FBB0311BC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5802</TotalTime>
  <Words>0</Words>
  <Application>Microsoft Macintosh PowerPoint</Application>
  <PresentationFormat>Widescreen</PresentationFormat>
  <Paragraphs>0</Paragraphs>
  <Slides>40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40</vt:i4>
      </vt:variant>
    </vt:vector>
  </HeadingPairs>
  <TitlesOfParts>
    <vt:vector size="45" baseType="lpstr">
      <vt:lpstr>Aptos</vt:lpstr>
      <vt:lpstr>Aptos Serif</vt:lpstr>
      <vt:lpstr>Arial</vt:lpstr>
      <vt:lpstr>Calibri</vt:lpstr>
      <vt:lpstr>Office-tema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3 - Login og role-based access control</dc:title>
  <dc:creator>Nina B. Müller (NIBM - Kommunikationsmedarbejder - Cphbusiness)</dc:creator>
  <cp:lastModifiedBy>Nina B. Müller (NIBM - Kommunikationsmedarbejder - Cphbusiness)</cp:lastModifiedBy>
  <cp:revision>2</cp:revision>
  <dcterms:created xsi:type="dcterms:W3CDTF">2025-06-26T10:44:11Z</dcterms:created>
  <dcterms:modified xsi:type="dcterms:W3CDTF">2025-06-30T11:27:36Z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0x010100E74AD318EC2E9B40AD8B7049EB16B85E</vt:lpwstr>
  </property>
</Properties>
</file>