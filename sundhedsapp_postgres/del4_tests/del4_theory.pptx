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9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C61"/>
    <a:srgbClr val="333333"/>
    <a:srgbClr val="33ABB5"/>
    <a:srgbClr val="FCA28A"/>
    <a:srgbClr val="F8EDCA"/>
    <a:srgbClr val="E8D285"/>
    <a:srgbClr val="ACB504"/>
    <a:srgbClr val="0C53ED"/>
    <a:srgbClr val="0038A8"/>
    <a:srgbClr val="246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2"/>
    <p:restoredTop sz="94660"/>
  </p:normalViewPr>
  <p:slideViewPr>
    <p:cSldViewPr snapToGrid="0">
      <p:cViewPr varScale="1">
        <p:scale>
          <a:sx n="105" d="100"/>
          <a:sy n="105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customXml" Target="../customXml/item1.xml"/><Relationship Id="rId47" Type="http://schemas.openxmlformats.org/officeDocument/2006/relationships/customXml" Target="../customXml/item2.xml"/><Relationship Id="rId48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Opsummering af del 3: login, tokens og roller. Vi testede reglerne ved at se på en tabel fra client.py. I dag bliver den tabel til tests, der kører automatisk.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3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C3BA29A4-58ED-73B3-D9C4-736FB4BD7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ED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D3538FE-B93F-C646-3B9F-5AD39F7240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263" r="10784" b="7869"/>
          <a:stretch>
            <a:fillRect/>
          </a:stretch>
        </p:blipFill>
        <p:spPr>
          <a:xfrm>
            <a:off x="8626" y="822243"/>
            <a:ext cx="12192000" cy="602305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7FFCE30-225F-2B28-2234-D836DE9733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4300" y="5944421"/>
            <a:ext cx="3168650" cy="894529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15FBE8F-A0E7-85B7-5D28-6EA4A1EE4B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2335" y="1446829"/>
            <a:ext cx="11129227" cy="681038"/>
          </a:xfrm>
        </p:spPr>
        <p:txBody>
          <a:bodyPr anchor="b">
            <a:normAutofit/>
          </a:bodyPr>
          <a:lstStyle>
            <a:lvl1pPr algn="l">
              <a:defRPr sz="4000" b="0" i="1">
                <a:solidFill>
                  <a:srgbClr val="0038A8"/>
                </a:solidFill>
                <a:latin typeface="Aptos Serif" panose="02020604070405020304" pitchFamily="18" charset="0"/>
                <a:cs typeface="Aptos Serif" panose="02020604070405020304" pitchFamily="18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Undertitel 2">
            <a:extLst>
              <a:ext uri="{FF2B5EF4-FFF2-40B4-BE49-F238E27FC236}">
                <a16:creationId xmlns:a16="http://schemas.microsoft.com/office/drawing/2014/main" id="{1E50DD4C-B05A-9D9C-1298-100FEAD63F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336" y="2292353"/>
            <a:ext cx="11129228" cy="3652067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rgbClr val="0038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3907838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ktangel 13">
            <a:extLst>
              <a:ext uri="{FF2B5EF4-FFF2-40B4-BE49-F238E27FC236}">
                <a16:creationId xmlns:a16="http://schemas.microsoft.com/office/drawing/2014/main" id="{3A5711AA-A8A6-783E-0ED1-8F44C5D1324C}"/>
              </a:ext>
            </a:extLst>
          </p:cNvPr>
          <p:cNvSpPr/>
          <p:nvPr userDrawn="1"/>
        </p:nvSpPr>
        <p:spPr>
          <a:xfrm>
            <a:off x="3009" y="-1"/>
            <a:ext cx="12193200" cy="6936059"/>
          </a:xfrm>
          <a:prstGeom prst="rect">
            <a:avLst/>
          </a:prstGeom>
          <a:solidFill>
            <a:srgbClr val="F8ED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7FFCE30-225F-2B28-2234-D836DE9733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4300" y="5944421"/>
            <a:ext cx="3168650" cy="894529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15FBE8F-A0E7-85B7-5D28-6EA4A1EE4B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7821" y="906835"/>
            <a:ext cx="6062636" cy="681038"/>
          </a:xfrm>
        </p:spPr>
        <p:txBody>
          <a:bodyPr anchor="b">
            <a:normAutofit/>
          </a:bodyPr>
          <a:lstStyle>
            <a:lvl1pPr algn="l">
              <a:defRPr sz="4000" b="0" i="1">
                <a:solidFill>
                  <a:srgbClr val="0038A8"/>
                </a:solidFill>
                <a:latin typeface="Aptos Serif" panose="02020604070405020304" pitchFamily="18" charset="0"/>
                <a:cs typeface="Aptos Serif" panose="02020604070405020304" pitchFamily="18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Undertitel 2">
            <a:extLst>
              <a:ext uri="{FF2B5EF4-FFF2-40B4-BE49-F238E27FC236}">
                <a16:creationId xmlns:a16="http://schemas.microsoft.com/office/drawing/2014/main" id="{1E50DD4C-B05A-9D9C-1298-100FEAD63F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7821" y="1725559"/>
            <a:ext cx="6062636" cy="4210783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rgbClr val="0038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Brødtekst</a:t>
            </a:r>
          </a:p>
        </p:txBody>
      </p:sp>
      <p:pic>
        <p:nvPicPr>
          <p:cNvPr id="3" name="Billede 2" descr="Et billede, der indeholder bygning, udendørs, sky, cykel&#10;&#10;AI-genereret indhold kan være ukorrekt.">
            <a:extLst>
              <a:ext uri="{FF2B5EF4-FFF2-40B4-BE49-F238E27FC236}">
                <a16:creationId xmlns:a16="http://schemas.microsoft.com/office/drawing/2014/main" id="{E40976EB-B007-D8E8-0F64-4A816184A5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9574" t="1" r="38800" b="278"/>
          <a:stretch>
            <a:fillRect/>
          </a:stretch>
        </p:blipFill>
        <p:spPr>
          <a:xfrm>
            <a:off x="19050" y="19050"/>
            <a:ext cx="5041899" cy="6838950"/>
          </a:xfrm>
          <a:prstGeom prst="rect">
            <a:avLst/>
          </a:prstGeom>
        </p:spPr>
      </p:pic>
      <p:sp>
        <p:nvSpPr>
          <p:cNvPr id="13" name="Tekstfelt 12">
            <a:extLst>
              <a:ext uri="{FF2B5EF4-FFF2-40B4-BE49-F238E27FC236}">
                <a16:creationId xmlns:a16="http://schemas.microsoft.com/office/drawing/2014/main" id="{362BDB08-A10D-ADDE-3F03-134B66DDD53B}"/>
              </a:ext>
            </a:extLst>
          </p:cNvPr>
          <p:cNvSpPr txBox="1"/>
          <p:nvPr userDrawn="1"/>
        </p:nvSpPr>
        <p:spPr>
          <a:xfrm>
            <a:off x="7363326" y="63847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10386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B35025B1-7DAA-BEC3-023B-53B064E4F8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ED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14D965-0696-3E04-298B-AB996A465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rgbClr val="0038A8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0CCBED-4346-6E83-8D04-9B77998A18E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118796"/>
          </a:xfrm>
        </p:spPr>
        <p:txBody>
          <a:bodyPr/>
          <a:lstStyle>
            <a:lvl1pPr>
              <a:defRPr>
                <a:solidFill>
                  <a:srgbClr val="0038A8"/>
                </a:solidFill>
              </a:defRPr>
            </a:lvl1pPr>
            <a:lvl2pPr>
              <a:defRPr>
                <a:solidFill>
                  <a:srgbClr val="0038A8"/>
                </a:solidFill>
              </a:defRPr>
            </a:lvl2pPr>
            <a:lvl3pPr>
              <a:defRPr>
                <a:solidFill>
                  <a:srgbClr val="0038A8"/>
                </a:solidFill>
              </a:defRPr>
            </a:lvl3pPr>
            <a:lvl4pPr>
              <a:defRPr>
                <a:solidFill>
                  <a:srgbClr val="0038A8"/>
                </a:solidFill>
              </a:defRPr>
            </a:lvl4pPr>
            <a:lvl5pPr>
              <a:defRPr>
                <a:solidFill>
                  <a:srgbClr val="0038A8"/>
                </a:solidFill>
              </a:defRPr>
            </a:lvl5pPr>
          </a:lstStyle>
          <a:p>
            <a:pPr lvl="0"/>
            <a:r>
              <a:rPr lang="da-DK" dirty="0"/>
              <a:t>Underoverskrift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0B0B2D9-5DBC-8F64-6D8F-FD17492D3A7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118796"/>
          </a:xfrm>
        </p:spPr>
        <p:txBody>
          <a:bodyPr/>
          <a:lstStyle>
            <a:lvl1pPr>
              <a:defRPr>
                <a:solidFill>
                  <a:srgbClr val="0038A8"/>
                </a:solidFill>
              </a:defRPr>
            </a:lvl1pPr>
            <a:lvl2pPr>
              <a:defRPr>
                <a:solidFill>
                  <a:srgbClr val="0038A8"/>
                </a:solidFill>
              </a:defRPr>
            </a:lvl2pPr>
            <a:lvl3pPr>
              <a:defRPr>
                <a:solidFill>
                  <a:srgbClr val="0038A8"/>
                </a:solidFill>
              </a:defRPr>
            </a:lvl3pPr>
            <a:lvl4pPr>
              <a:defRPr>
                <a:solidFill>
                  <a:srgbClr val="0038A8"/>
                </a:solidFill>
              </a:defRPr>
            </a:lvl4pPr>
            <a:lvl5pPr>
              <a:defRPr>
                <a:solidFill>
                  <a:srgbClr val="0038A8"/>
                </a:solidFill>
              </a:defRPr>
            </a:lvl5pPr>
          </a:lstStyle>
          <a:p>
            <a:pPr lvl="0"/>
            <a:r>
              <a:rPr lang="da-DK" dirty="0"/>
              <a:t>Underoverskrift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136BA7A-2D33-F09A-D91B-920433AF79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4300" y="5944421"/>
            <a:ext cx="3168650" cy="8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360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2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9D3788E-DF04-3F25-B2F2-39916224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CF4F2E5-1019-2F72-C943-C22FA2B47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F8E03F2-3148-CD75-07C7-E5DBEE154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EAAF4-5C60-4648-853A-0F85F719702F}" type="datetimeFigureOut">
              <a:rPr lang="da-DK" smtClean="0"/>
              <a:t>30.06.2025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B68D781-B182-ABF7-8F19-FC6B0637C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72B3DFC-B36F-3A09-8CE8-7EA169EA3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CFCBD-0BB6-4C4B-8C52-DD65F470F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473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1"/>
    <p:sldLayoutId id="2147483669" r:id="rId16"/>
    <p:sldLayoutId id="2147483652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1" kern="1200">
          <a:solidFill>
            <a:srgbClr val="333333"/>
          </a:solidFill>
          <a:latin typeface="Aptos Serif" panose="02020604070405020304" pitchFamily="18" charset="0"/>
          <a:ea typeface="+mj-ea"/>
          <a:cs typeface="Aptos Serif" panose="0202060407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docs.pytest.org/en/stable/getting-started.html" TargetMode="External"/><Relationship Id="rId3" Type="http://schemas.openxmlformats.org/officeDocument/2006/relationships/hyperlink" Target="https://docs.pytest.org/en/stable/how-to/assert.html" TargetMode="External"/><Relationship Id="rId4" Type="http://schemas.openxmlformats.org/officeDocument/2006/relationships/hyperlink" Target="https://docs.pytest.org/en/stable/how-to/parametrize.html" TargetMode="External"/><Relationship Id="rId5" Type="http://schemas.openxmlformats.org/officeDocument/2006/relationships/hyperlink" Target="https://docs.pytest.org/en/stable/how-to/fixtures.html" TargetMode="External"/><Relationship Id="rId6" Type="http://schemas.openxmlformats.org/officeDocument/2006/relationships/hyperlink" Target="https://docs.pytest.org/en/stable/how-to/monkeypatch.html" TargetMode="External"/><Relationship Id="rId7" Type="http://schemas.openxmlformats.org/officeDocument/2006/relationships/hyperlink" Target="https://github.com/dbfixtures/pytest-postgresql" TargetMode="External"/><Relationship Id="rId8" Type="http://schemas.openxmlformats.org/officeDocument/2006/relationships/hyperlink" Target="https://www.postgresql.org/docs/current/manage-ag-templatedbs.html" TargetMode="External"/><Relationship Id="rId9" Type="http://schemas.openxmlformats.org/officeDocument/2006/relationships/hyperlink" Target="https://flask.palletsprojects.com/en/stable/testing/" TargetMode="External"/><Relationship Id="rId10" Type="http://schemas.openxmlformats.org/officeDocument/2006/relationships/hyperlink" Target="https://realpython.com/pytest-python-testing/" TargetMode="External"/><Relationship Id="rId11" Type="http://schemas.openxmlformats.org/officeDocument/2006/relationships/hyperlink" Target="https://martinfowler.com/articles/practical-test-pyramid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0" y="1158240"/>
            <a:ext cx="6095999" cy="1828800"/>
          </a:xfrm>
        </p:spPr>
        <p:txBody>
          <a:bodyPr wrap="square" anchor="b" lIns="0" rIns="0" tIns="0" bIns="0"/>
          <a:lstStyle/>
          <a:p>
            <a:r>
              <a:rPr sz="4266"/>
              <a:t>Tests med pytest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8320" y="3169920"/>
            <a:ext cx="6095999" cy="1219200"/>
          </a:xfrm>
        </p:spPr>
        <p:txBody>
          <a:bodyPr wrap="square" anchor="t" lIns="0" rIns="0" tIns="0" bIns="0"/>
          <a:lstStyle/>
          <a:p>
            <a:r>
              <a:rPr sz="2133"/>
              <a:t>Rene funktioner, en frisk testdatabase og en login-fixture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0" y="670560"/>
            <a:ext cx="6095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Lektion 5 · Del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8320" y="4572000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08320" y="4572000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assert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56319" y="4572000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6319" y="4572000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parametrize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8320" y="5242559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8320" y="5242559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fixtures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6319" y="5242559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6319" y="5242559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alibri"/>
              </a:rPr>
              <a:t>pytest-postgresql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Planen for del 4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Trin 1–2 hjemme, trin 3–6 i undervisningen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2880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8A93"/>
                </a:solidFill>
                <a:latin typeface="Aptos Serif"/>
              </a:rPr>
              <a:t>Hjemme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438400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243840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uv sync, password i db.py, læs theory.md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3169920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6992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1120" y="316992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Din første test: assert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901440"/>
            <a:ext cx="512063" cy="512063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90144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1120" y="390144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parametrize og pytest.raises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19" y="182880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E4C61"/>
                </a:solidFill>
                <a:latin typeface="Aptos Serif"/>
              </a:rPr>
              <a:t>I undervisningen</a:t>
            </a:r>
          </a:p>
        </p:txBody>
      </p:sp>
      <p:sp>
        <p:nvSpPr>
          <p:cNvPr id="16" name="Oval 15"/>
          <p:cNvSpPr/>
          <p:nvPr/>
        </p:nvSpPr>
        <p:spPr>
          <a:xfrm>
            <a:off x="6217919" y="2438400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19" y="243840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39" y="243840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Tokens og monkeypatch</a:t>
            </a:r>
          </a:p>
        </p:txBody>
      </p:sp>
      <p:sp>
        <p:nvSpPr>
          <p:cNvPr id="19" name="Oval 18"/>
          <p:cNvSpPr/>
          <p:nvPr/>
        </p:nvSpPr>
        <p:spPr>
          <a:xfrm>
            <a:off x="6217919" y="3169920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316992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39" y="316992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Databasen med pytest-postgresql</a:t>
            </a:r>
          </a:p>
        </p:txBody>
      </p:sp>
      <p:sp>
        <p:nvSpPr>
          <p:cNvPr id="22" name="Oval 21"/>
          <p:cNvSpPr/>
          <p:nvPr/>
        </p:nvSpPr>
        <p:spPr>
          <a:xfrm>
            <a:off x="6217919" y="3901440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390144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390144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Login-fixturen</a:t>
            </a:r>
          </a:p>
        </p:txBody>
      </p:sp>
      <p:sp>
        <p:nvSpPr>
          <p:cNvPr id="25" name="Oval 24"/>
          <p:cNvSpPr/>
          <p:nvPr/>
        </p:nvSpPr>
        <p:spPr>
          <a:xfrm>
            <a:off x="6217919" y="4632960"/>
            <a:ext cx="512063" cy="512063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19" y="463296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463296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Alle adgangsregler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Hvorfor automatiske tests?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I del 3 tjekkede vi tabellen fra client.py med øjnene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11679"/>
            <a:ext cx="3474720" cy="286512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1648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16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4799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Sikkerhedsnet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96640"/>
            <a:ext cx="292607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Nogen ændrer roles=[...] ved en fejl. En test bliver rød med det samme.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59" y="2011679"/>
            <a:ext cx="3474720" cy="286512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2960" y="231648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960" y="2316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960" y="304799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Dokumentation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960" y="3596640"/>
            <a:ext cx="292607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assert clean_name("anne-marie") == "Anne-Marie" siger præcist, hvad koden gør.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2011679"/>
            <a:ext cx="3474720" cy="286512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1648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16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4799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38A8"/>
                </a:solidFill>
                <a:latin typeface="Aptos Serif"/>
              </a:rPr>
              <a:t>Mod til at ændre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3596640"/>
            <a:ext cx="292607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Du kan rydde op, fordi testene siger til, hvis du ødelægger noget.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36448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66" b="1" i="0">
                <a:solidFill>
                  <a:srgbClr val="1F8A93"/>
                </a:solidFill>
                <a:latin typeface="Calibri"/>
              </a:rPr>
              <a:t>En test er kode, der kører din kode og tjekker resultatet selv.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pytest: det grundlæggende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assert, parametrize og pytest.raises (trin 1–2)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Anatomien af en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pytest finder selv tests ud fra navnene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583680" cy="16459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217920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# tests/test_cleaning.py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from cleaning import clean_name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def test_clean_name_capitalizes() -&gt; None: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assert clean_name("holm") == "Holm"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7120" y="1767839"/>
          <a:ext cx="4145279" cy="165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926079"/>
              </a:tblGrid>
              <a:tr h="4145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Hvad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Regel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Fil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test_*.py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def test_*():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Tjek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almindelig assert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3657600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38A8"/>
                </a:solidFill>
                <a:latin typeface="Aptos Serif"/>
              </a:rPr>
              <a:t>Når en test fejler, viser pytest begge værdier: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145280"/>
            <a:ext cx="10972800" cy="10363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" y="4291584"/>
            <a:ext cx="10607039" cy="79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&gt;       assert clean_name("  kevin  ") == "Kevin"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E       AssertionError: assert '  kevin  ' == 'Kevin'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4254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Arrange, Act, Assert: gør klar, kør koden, tjek resultatet. Én ting per test, og et navn der siger hvad.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Kør testene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Alle kommandoer fra mappen del4_tests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767839"/>
          <a:ext cx="9387839" cy="3584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4267199"/>
              </a:tblGrid>
              <a:tr h="512063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Kommando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Gør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uv run pytest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alle tests i tests/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uv run pytest -v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ét navn per test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uv run pytest tests/test_login.py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kun én fil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uv run pytest -k blood_type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kun tests med det i navnet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uv run pytest -x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stop ved første fejl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uv run pytest --lf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kun dem, der fejlede sidst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302240" y="1828800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224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33" b="1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560" y="2414015"/>
            <a:ext cx="176783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5F6B73"/>
                </a:solidFill>
                <a:latin typeface="Calibri"/>
              </a:rPr>
              <a:t>bestået</a:t>
            </a:r>
          </a:p>
        </p:txBody>
      </p:sp>
      <p:sp>
        <p:nvSpPr>
          <p:cNvPr id="9" name="Oval 8"/>
          <p:cNvSpPr/>
          <p:nvPr/>
        </p:nvSpPr>
        <p:spPr>
          <a:xfrm>
            <a:off x="10302240" y="274320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02240" y="2743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33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560" y="3328415"/>
            <a:ext cx="176783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5F6B73"/>
                </a:solidFill>
                <a:latin typeface="Calibri"/>
              </a:rPr>
              <a:t>fejlet: en assert</a:t>
            </a:r>
          </a:p>
        </p:txBody>
      </p:sp>
      <p:sp>
        <p:nvSpPr>
          <p:cNvPr id="12" name="Oval 11"/>
          <p:cNvSpPr/>
          <p:nvPr/>
        </p:nvSpPr>
        <p:spPr>
          <a:xfrm>
            <a:off x="10302240" y="365760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02240" y="3657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33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60" y="4242816"/>
            <a:ext cx="176783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5F6B73"/>
                </a:solidFill>
                <a:latin typeface="Calibri"/>
              </a:rPr>
              <a:t>fejl i en fixture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2: parametrize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Én test, en tabel af eksempler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583680" cy="31699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217920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@pytest.mark.parametrize(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("value", "expected"),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[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(False, None),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("No", None),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("Peanuts", "Peanuts"),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],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test_clean_allergies(value, expected):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assert clean_allergies(value) == expected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37120" y="1767839"/>
            <a:ext cx="4145280" cy="15849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9999" y="1914143"/>
            <a:ext cx="3779519" cy="1341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test_clean_allergies[False-None]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test_clean_allergies[No-None]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test_clean_allergies[Peanuts-Peanuts]</a:t>
            </a:r>
          </a:p>
        </p:txBody>
      </p:sp>
      <p:sp>
        <p:nvSpPr>
          <p:cNvPr id="9" name="Rectangle 8"/>
          <p:cNvSpPr/>
          <p:nvPr/>
        </p:nvSpPr>
        <p:spPr>
          <a:xfrm>
            <a:off x="7437120" y="3596640"/>
            <a:ext cx="4145280" cy="134112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9999" y="3718560"/>
            <a:ext cx="377951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Én række = én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9" y="4108704"/>
            <a:ext cx="3779519" cy="755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Fejler én række, kører de andre stadig.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242559"/>
            <a:ext cx="1097280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1F8A93"/>
                </a:solidFill>
                <a:latin typeface="Calibri"/>
              </a:rPr>
              <a:t>Brug det, når du ellers ville kopiere den samme test med nye værdier.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2: pytest.raises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Nogle gange er det rigtige svar en exception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583680" cy="13411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def test_clean_blood_type_rejects_unknown():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with pytest.raises(ValueError):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    clean_blood_type("X+")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291840"/>
            <a:ext cx="6583680" cy="13411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438144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def test_clean_name_rejects_empty():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with pytest.raises(ValueError, match="tom"):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    clean_name("   ")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37120" y="1767839"/>
            <a:ext cx="4145280" cy="9753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9999" y="1889759"/>
            <a:ext cx="377951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Består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9" y="2279904"/>
            <a:ext cx="377951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når koden i with kaster den exception.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37120" y="2865120"/>
            <a:ext cx="4145280" cy="9753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9999" y="2987040"/>
            <a:ext cx="377951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Fejler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9" y="3377184"/>
            <a:ext cx="377951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når der ingen exception kommer: DID NOT RAISE.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37120" y="3962399"/>
            <a:ext cx="4145280" cy="9753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9999" y="4084320"/>
            <a:ext cx="377951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match=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999" y="4474463"/>
            <a:ext cx="3779519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tjekker også beskeden (regex).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998719"/>
            <a:ext cx="109728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Virker også med databasen: </a:t>
            </a:r>
            <a:r>
              <a:rPr sz="1600" b="0" i="0">
                <a:solidFill>
                  <a:srgbClr val="333333"/>
                </a:solidFill>
                <a:latin typeface="Courier New"/>
              </a:rPr>
              <a:t>with pytest.raises(CheckViolation): ...  (trin 4.6)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Fixtures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Det, en test har brug for, og monkeypatch (trin 3)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Fixtures: det, en test har brug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Skriv fixturens navn som parameter, og pytest gør resten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2438400" cy="12192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89759"/>
            <a:ext cx="243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0038A8"/>
                </a:solidFill>
                <a:latin typeface="Courier New"/>
              </a:rPr>
              <a:t>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2438400"/>
            <a:ext cx="231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frisk database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6768" y="2292095"/>
            <a:ext cx="268224" cy="292607"/>
          </a:xfrm>
          <a:prstGeom prst="rightArrow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3759" y="1828800"/>
            <a:ext cx="2438400" cy="12192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759" y="1889759"/>
            <a:ext cx="243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0038A8"/>
                </a:solidFill>
                <a:latin typeface="Courier New"/>
              </a:rPr>
              <a:t>db_url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19" y="2438400"/>
            <a:ext cx="231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peger db.py på den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00928" y="2292095"/>
            <a:ext cx="268224" cy="292607"/>
          </a:xfrm>
          <a:prstGeom prst="rightArrow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9" y="1828800"/>
            <a:ext cx="2438400" cy="12192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19" y="1889759"/>
            <a:ext cx="243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0038A8"/>
                </a:solidFill>
                <a:latin typeface="Courier New"/>
              </a:rPr>
              <a:t>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879" y="2438400"/>
            <a:ext cx="231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Flask test client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05088" y="2292095"/>
            <a:ext cx="268224" cy="292607"/>
          </a:xfrm>
          <a:prstGeom prst="rightArrow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22079" y="1828800"/>
            <a:ext cx="2438400" cy="1219200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2079" y="1889759"/>
            <a:ext cx="243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ourier New"/>
              </a:rPr>
              <a:t>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3039" y="2438400"/>
            <a:ext cx="231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D6E0F5"/>
                </a:solidFill>
                <a:latin typeface="Calibri"/>
              </a:rPr>
              <a:t>login("mette") → headers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413759"/>
            <a:ext cx="6583680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480" y="3560064"/>
            <a:ext cx="621792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@pytest.fixture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client(db_url):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return app.test_client()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test_me_without_token(client):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assert client.get("/me").status_code == 401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37120" y="3413759"/>
            <a:ext cx="4145280" cy="877824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9999" y="3535679"/>
            <a:ext cx="377951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conftest.py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999" y="3925823"/>
            <a:ext cx="3779519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Fixtures her kan bruges af alle tests i mappen, uden import.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37120" y="4364736"/>
            <a:ext cx="4145280" cy="877824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9999" y="4486656"/>
            <a:ext cx="377951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Ny for hver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9999" y="4876800"/>
            <a:ext cx="3779519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Ingen test kan ødelægge noget for den næste.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3: monkeypatch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En fixture fra pytest: ændr noget, men kun under testen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test_expired_token_is_rejected(monkeypatch):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monkeypatch.setattr(auth,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            "TOKEN_LIFETIME_SECONDS", -1)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token = create_token(7)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assert read_token(token) is None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779519"/>
            <a:ext cx="6827519" cy="13411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925823"/>
            <a:ext cx="646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@pytest.fixture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db_url(postgresql, monkeypatch):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monkeypatch.setattr(db, "DATABASE_URL", url)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767839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Ingen ventetid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279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Vi vil ikke vente 30 minutter på, at et token udløber.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2987040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108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Sættes tilbage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4991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Efter testen har værdien sin gamle værdi igen.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919" y="4206240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99" y="43281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Samme trick i trin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99" y="47183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db_url peger hele app'en på testdatabasen.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Test med en rigtig database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pytest-postgresql (trin 4)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pytest-postgresql: en frisk database per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Din server og dit password fra db.py, men egne databaser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767839"/>
            <a:ext cx="10972800" cy="548640"/>
          </a:xfrm>
          <a:prstGeom prst="roundRect">
            <a:avLst>
              <a:gd name="adj" fmla="val 22222"/>
            </a:avLst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767839"/>
            <a:ext cx="104851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Aptos Serif"/>
              </a:rPr>
              <a:t>din PostgreSQL-server (localhost:5432)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" y="2596896"/>
            <a:ext cx="146303" cy="365759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49935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sundhedsapp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4080" y="2499359"/>
            <a:ext cx="5608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din database: røres ikke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" y="3267455"/>
            <a:ext cx="146303" cy="365759"/>
          </a:xfrm>
          <a:prstGeom prst="rect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16991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sundhedsapp_test_tmpl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4080" y="3169919"/>
            <a:ext cx="5608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skabelon: schema + data + brugere, laves én gang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5360" y="3938016"/>
            <a:ext cx="146303" cy="365759"/>
          </a:xfrm>
          <a:prstGeom prst="rect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7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sundhedsapp_test_… (test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4080" y="3840479"/>
            <a:ext cx="5608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kopi, slettes efter testen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5360" y="4608576"/>
            <a:ext cx="146303" cy="365759"/>
          </a:xfrm>
          <a:prstGeom prst="rect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511040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sundhedsapp_test_… (test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4080" y="4511040"/>
            <a:ext cx="5608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kopi, slettes efter testen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303519"/>
            <a:ext cx="1097280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1F8A93"/>
                </a:solidFill>
                <a:latin typeface="Calibri"/>
              </a:rPr>
              <a:t>Sletter én test en patient, har den næste stadig alle 12. Det kaldes isolation, og du tester det i trin 4.5.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4.1: conftest.py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Tre linjer pytest-postgresql og én egen fixture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7071359" cy="4145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705600" cy="390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postgresql_server = factories.postgresql_noproc(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host=..., port=..., user=..., password=...,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dbname="sundhedsapp_test",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load=[load_test_data],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postgresql = factories.postgresql("postgresql_server")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@pytest.fixture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db_url(postgresql, monkeypatch) -&gt; str: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info = postgresql.info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url = make_conninfo(host=info.host, ...)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monkeypatch.setattr(db, "DATABASE_URL", url)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return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799" y="1767839"/>
            <a:ext cx="3657600" cy="12801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07680" y="1889759"/>
            <a:ext cx="3291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noproc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7680" y="2279904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Brug en server, der allerede kører. Ingen pg_ctl nødvendig.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799" y="3194304"/>
            <a:ext cx="3657600" cy="12801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7680" y="3316224"/>
            <a:ext cx="3291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680" y="3706367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Fylder skabelonen én gang per testkørsel.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4799" y="4620767"/>
            <a:ext cx="3657600" cy="12801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7680" y="4742688"/>
            <a:ext cx="3291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680" y="5132832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En psycopg-connection til testens egen kopi.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To ting, vi lærte undervejs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Og som du skal kende, når du tester med en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5364480" cy="164592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889759"/>
            <a:ext cx="4998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Hastighed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2279904"/>
            <a:ext cx="49987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 frisk database koster ca. 1 sekund per test. Rene funktioner tager millisekunder: 17 tests på 0,07 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596640"/>
            <a:ext cx="5364480" cy="164592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3718560"/>
            <a:ext cx="4998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Hashing én gang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" y="4108704"/>
            <a:ext cx="49987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scrypt tager ca. 0,5 s per password, og det er med vilje. Brugerne oprettes derfor i skabelonen, ikke i hver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19" y="1767839"/>
            <a:ext cx="5364480" cy="3474720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760" y="1889759"/>
            <a:ext cx="487680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Aptos Serif"/>
              </a:rPr>
              <a:t>æ, ø og å på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760" y="2438400"/>
            <a:ext cx="48768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pytest-postgresql åbner .sql-filer uden encoding="utf-8". På Windows bliver "Sørensen" til "SÃ¸rensen", uden nogen fejl.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1760" y="3901440"/>
            <a:ext cx="4876800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640" y="4047744"/>
            <a:ext cx="451104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(FOLDER / name).read_text(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encoding="utf-8")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Derfor har test_all_patients en assert med "Mette Sørensen": testen fanger fejlen, hvis den kommer tilbage.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Testpyramiden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Mange hurtige tests i bunden, få langsomme i toppen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828800"/>
            <a:ext cx="3657600" cy="975360"/>
          </a:xfrm>
          <a:prstGeom prst="rect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1828800"/>
            <a:ext cx="3657600" cy="975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end-to-end: browser, rigtig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19" y="1828800"/>
            <a:ext cx="170687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FE4C61"/>
                </a:solidFill>
                <a:latin typeface="Calibri"/>
              </a:rPr>
              <a:t>få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19" y="2292095"/>
            <a:ext cx="170687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langsomme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0720" y="2987040"/>
            <a:ext cx="6339840" cy="975360"/>
          </a:xfrm>
          <a:prstGeom prst="rect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0720" y="2987040"/>
            <a:ext cx="6339840" cy="975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API + database (trin 4–6)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2987040"/>
            <a:ext cx="170687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1F8A93"/>
                </a:solidFill>
                <a:latin typeface="Calibri"/>
              </a:rPr>
              <a:t>nogle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19" y="3450336"/>
            <a:ext cx="170687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~1 s per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145280"/>
            <a:ext cx="9022080" cy="975360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145280"/>
            <a:ext cx="9022080" cy="975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rene funktioner (trin 1–3)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19" y="4145280"/>
            <a:ext cx="170687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mange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5"/>
            <a:ext cx="170687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~1 ms per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1F8A93"/>
                </a:solidFill>
                <a:latin typeface="Calibri"/>
              </a:rPr>
              <a:t>Test logikken der, hvor det er billigst. Test samspillet færre steder.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Test API'et og login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Flask test client og login-fixturen (trin 5–6)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Flask test 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Send requests direkte ind i app'en, uden en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23164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20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response = client.post(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"/login",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json={"username": "mette",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"password": "mette-pass"})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response.status_code   # 200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response.json         # {"token": "eyJ..."}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4206240"/>
          <a:ext cx="68275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5280"/>
                <a:gridCol w="2682240"/>
              </a:tblGrid>
              <a:tr h="438912"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Kald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Gør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client.get(path, headers=...)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client.post(path, json=...)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POST med JSON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client.open(path, method=...)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vilkårlig metode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41919" y="1767839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Ingen flask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2279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Ingen port, ingen anden terminal.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1919" y="2987040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799" y="3108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Samme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4991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Samme endpoints og regler som i del 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19" y="4206240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799" y="43281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Samme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799" y="47183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db_url peger den på testdatabasen.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5: login-fixturen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En fixture, der returnerer en funktion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7071359" cy="28041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705600" cy="2560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@pytest.fixture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login(client):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def _login(username: str) -&gt; dict[str, str]: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credentials = {"username": username,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        "password": PASSWORDS[username]}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response = client.post("/login", json=credentials)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assert response.status_code == 200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token = response.json["token"]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return {"Authorization": f"Bearer {token}"}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return _login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754879"/>
            <a:ext cx="7071359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4901183"/>
            <a:ext cx="670560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test_me_with_token(client, login):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response = client.get("/me", headers=login("mette"))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799" y="1767839"/>
            <a:ext cx="3657600" cy="12192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07680" y="1889759"/>
            <a:ext cx="3291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Hvorfor en funktion?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7680" y="2279904"/>
            <a:ext cx="3291840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Samme test kan logge ind som admin, mette og nina.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799" y="3133344"/>
            <a:ext cx="3657600" cy="12192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680" y="3255264"/>
            <a:ext cx="3291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Skrevet én gang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680" y="3645408"/>
            <a:ext cx="3291840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Alle tests af beskyttede endpoints bruger den.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799" y="4498848"/>
            <a:ext cx="3657600" cy="12192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680" y="4620768"/>
            <a:ext cx="3291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PASSWORDS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680" y="5010912"/>
            <a:ext cx="3291840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Bygget ud fra TEST_USERS i users.py.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6: tabellen fra del 3 som én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parametrize + login-fixture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7071359" cy="402335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705600" cy="3779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@pytest.mark.parametrize(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("method", "path", "username", "expected"),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[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("GET", "/patients", "admin", 200),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("GET", "/patients", "nina", 200),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("GET", "/patients", "mette", 403),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...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],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test_access(client, login, method, path,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 username, expected):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response = client.open(path, method=method,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            headers=login(username))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response.status_code == expected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799" y="1767839"/>
            <a:ext cx="3657600" cy="12801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07680" y="1889759"/>
            <a:ext cx="3291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9 rækker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7680" y="2279904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/patients, /my_patients og DELETE for tre brugere.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799" y="3230880"/>
            <a:ext cx="3657600" cy="12801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7680" y="3352800"/>
            <a:ext cx="32918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6.4 bryd en regel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680" y="3742943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Giv doctor adgang til /patients. Én test bliver rød.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4799" y="4693920"/>
            <a:ext cx="3657600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7680" y="4840224"/>
            <a:ext cx="329184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FAILED test_access[GET-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/patients-mette-403]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assert 200 == 403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Sådan løser du trin 3–6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Mønstre, hints og de tjek, du skal kigge efter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3: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Ren logik: ingen database, ingen server, under et sekund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353567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32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test_forged_token_is_rejected():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forged = forge_payload(create_token(2), 1)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read_token(forged) is None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test_garbage_is_rejected():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read_token("ikke et token") is None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test_expired_token_is_rejected(monkeypatch):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monkeypatch.setattr(auth, "TOKEN_LIFETIME_SECONDS", -1)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read_token(create_token(7)) is None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1919" y="1767839"/>
            <a:ext cx="3840479" cy="115824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forge_payload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99" y="2279904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Mette prøver at gøre sig selv til bruger 1 (admin).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3047999"/>
            <a:ext cx="3840479" cy="115824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316992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import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3560064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monkeypatch skal have modulet, ikke kun funktionen.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1919" y="4328159"/>
            <a:ext cx="3840479" cy="115824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99" y="445008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✅ Tjek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4840224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4 passed på under et sekund.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4: tests mod databasen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Bed om db_url, og kald funktionerne som normalt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402335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3779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test_patients_of_doctor(db_url):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names = [p["first_name"] for p in patients_of_doctor(1)]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names == ["Kevin", "Karen", "Erik"]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test_delete_patient(db_url):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delete_patient(1) is True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delete_patient(1) is False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len(all_patients()) == 11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test_database_rejects_bad_blood_type(postgresql):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with pytest.raises(CheckViolation):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postgresql.execute("INSERT ... 'X+' ...")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1919" y="1767839"/>
            <a:ext cx="3840479" cy="9144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db_url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99" y="2279904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Din kode bruger testdatabasen.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2779775"/>
            <a:ext cx="3840479" cy="9144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2901695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3291839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Rå SQL direkte mod testdatabasen.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1919" y="3791712"/>
            <a:ext cx="3840479" cy="9144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99" y="3913631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4.5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4303775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Efter delete har næste test stadig 12.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41919" y="4803647"/>
            <a:ext cx="3840479" cy="9144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799" y="4925567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4.7 pgAdmin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799" y="5315711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Din sundhedsapp er urørt.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5: test login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Samme besked for forkert password og ukendt bruger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test_login_wrong_password(client):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response = client.post("/login", json={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"username": "mette", "password": "forkert"})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response.status_code == 401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response.json["message"] == WRONG_LOGIN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779519"/>
            <a:ext cx="6827519" cy="15849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925823"/>
            <a:ext cx="6461760" cy="1341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test_me_with_token(client, login):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response = client.get("/me", headers=login("mette"))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response.status_code == 200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assert response.json == {"username": "mette",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              "role": "doctor"}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767839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5.1 først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279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Uden login-fixturen fejler 5.5 og hele trin 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2987040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108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5.3 hvorfor?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4991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En anden besked afslører, hvilke brugernavne der findes.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919" y="4206240"/>
            <a:ext cx="3840479" cy="109728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99" y="43281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0038A8"/>
                </a:solidFill>
                <a:latin typeface="Aptos Serif"/>
              </a:rPr>
              <a:t>✅ Tjek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99" y="47183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5 passed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Almindelige fejl og hvad de betyder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63039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8320"/>
                <a:gridCol w="5364480"/>
              </a:tblGrid>
              <a:tr h="548640"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Du ser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Det betyder</a:t>
                      </a:r>
                    </a:p>
                  </a:txBody>
                  <a:tcPr marL="97536" marR="97536" marT="36575" marB="36575" anchor="ctr">
                    <a:solidFill>
                      <a:srgbClr val="0038A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F … NotImplementedError: trin 2.3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godt! Skriv den test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E … password authentication failed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forkert password i db.py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E … Connection refused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PostgreSQL-servicen kører ikke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fixture 'login' not found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stavefejl, eller conftest.py ligger forkert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DID NOT RAISE &lt;class 'ValueError'&gt;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koden kastede ingen exception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assert 403 == 200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app'en svarede 403, testen forventede 200</a:t>
                      </a:r>
                    </a:p>
                  </a:txBody>
                  <a:tcPr marL="97536" marR="97536" marT="36575" marB="36575" anchor="ctr">
                    <a:solidFill>
                      <a:srgbClr val="F8EDC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No module named 'pytest_postgresql'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kør uv sync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Læs mere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Alle links står også nederst i theory.md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3474720" cy="36576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pytest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2"/>
              </a:rPr>
              <a:t>Get started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3"/>
              </a:rPr>
              <a:t>Assertions og raises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4"/>
              </a:rPr>
              <a:t>parametrize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5"/>
              </a:rPr>
              <a:t>Fixtures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6"/>
              </a:rPr>
              <a:t>monkeypatch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59" y="1767839"/>
            <a:ext cx="3474720" cy="36576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Database og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7"/>
              </a:rPr>
              <a:t>pytest-postgresql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8"/>
              </a:rPr>
              <a:t>Template databases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9"/>
              </a:rPr>
              <a:t>Flask: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767839"/>
            <a:ext cx="3474720" cy="365760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0038A8"/>
                </a:solidFill>
                <a:latin typeface="Aptos Serif"/>
              </a:rPr>
              <a:t>Strategi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0"/>
              </a:rPr>
              <a:t>Real Python: pytest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1F8A93"/>
                </a:solidFill>
                <a:latin typeface="Calibri"/>
                <a:hlinkClick r:id="rId11"/>
              </a:rPr>
              <a:t>Fowler: test pyramid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Din tur: exercise.md, trin 3–6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84960"/>
            <a:ext cx="2560320" cy="21945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39" y="182880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39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monkeypatch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6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759" y="1584960"/>
            <a:ext cx="2560320" cy="21945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82880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db_url + 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19" y="1584960"/>
            <a:ext cx="2560320" cy="21945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760" y="182880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76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76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6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login-fixture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8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2079" y="1584960"/>
            <a:ext cx="2560320" cy="2194560"/>
          </a:xfrm>
          <a:prstGeom prst="rect">
            <a:avLst/>
          </a:prstGeom>
          <a:solidFill>
            <a:srgbClr val="F8E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65920" y="1828800"/>
            <a:ext cx="548640" cy="548640"/>
          </a:xfrm>
          <a:prstGeom prst="ellipse">
            <a:avLst/>
          </a:prstGeom>
          <a:solidFill>
            <a:srgbClr val="FE4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592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592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Adgang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592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parametrize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92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6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2062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Kør kun din fil: </a:t>
            </a:r>
            <a:r>
              <a:rPr sz="1866" b="0" i="0">
                <a:solidFill>
                  <a:srgbClr val="333333"/>
                </a:solidFill>
                <a:latin typeface="Courier New"/>
              </a:rPr>
              <a:t>uv run pytest tests/test_database.py -v</a:t>
            </a:r>
          </a:p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Sidder du fast?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1) læs pytests output nedefra og op  2) læs TODO-hintet  3) find slidet for trinnet  4) kig i solution/tests/</a:t>
            </a:r>
          </a:p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0038A8"/>
                </a:solidFill>
                <a:latin typeface="Calibri"/>
              </a:rPr>
              <a:t>Færdig før tid?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Ekstraopgaver: flere adgangstests, --lf, coverage, test-driven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æsentation3" id="{47A70E4D-E829-6142-8D7A-266DF559A7A1}" vid="{F2789681-2020-6642-AFF1-73227AA778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74AD318EC2E9B40AD8B7049EB16B85E" ma:contentTypeVersion="18" ma:contentTypeDescription="Opret et nyt dokument." ma:contentTypeScope="" ma:versionID="3d26f90c7d90d461162d5f348dd417a7">
  <xsd:schema xmlns:xsd="http://www.w3.org/2001/XMLSchema" xmlns:xs="http://www.w3.org/2001/XMLSchema" xmlns:p="http://schemas.microsoft.com/office/2006/metadata/properties" xmlns:ns2="23d56eaa-9f9a-4503-9a32-c18a3a465a0b" xmlns:ns3="8f5a357d-d106-42fe-9dda-037744778dbb" targetNamespace="http://schemas.microsoft.com/office/2006/metadata/properties" ma:root="true" ma:fieldsID="9665d199feccd5b7922aceb2e400657f" ns2:_="" ns3:_="">
    <xsd:import namespace="23d56eaa-9f9a-4503-9a32-c18a3a465a0b"/>
    <xsd:import namespace="8f5a357d-d106-42fe-9dda-037744778d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56eaa-9f9a-4503-9a32-c18a3a465a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9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0" nillable="true" ma:displayName="Location" ma:description="" ma:internalName="MediaServiceLocatio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61593edc-fe69-4ff2-86d1-67b90c929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a357d-d106-42fe-9dda-037744778d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f654023-ba1f-491e-9e42-068efaed9164}" ma:internalName="TaxCatchAll" ma:showField="CatchAllData" ma:web="8f5a357d-d106-42fe-9dda-037744778d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Indholdstype"/>
        <xsd:element ref="dc:title" minOccurs="0" maxOccurs="1" ma:index="3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5a357d-d106-42fe-9dda-037744778dbb" xsi:nil="true"/>
    <lcf76f155ced4ddcb4097134ff3c332f xmlns="23d56eaa-9f9a-4503-9a32-c18a3a465a0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834366C-A292-4D01-AFBA-DE8A74F09A66}"/>
</file>

<file path=customXml/itemProps2.xml><?xml version="1.0" encoding="utf-8"?>
<ds:datastoreItem xmlns:ds="http://schemas.openxmlformats.org/officeDocument/2006/customXml" ds:itemID="{8CFC123B-1928-4CD9-AC5A-F026DF92D7CA}"/>
</file>

<file path=customXml/itemProps3.xml><?xml version="1.0" encoding="utf-8"?>
<ds:datastoreItem xmlns:ds="http://schemas.openxmlformats.org/officeDocument/2006/customXml" ds:itemID="{138E7D14-521D-4692-AEBE-C1FBB0311BC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5802</TotalTime>
  <Words>0</Words>
  <Application>Microsoft Macintosh PowerPoint</Application>
  <PresentationFormat>Widescreen</PresentationFormat>
  <Paragraphs>0</Paragraphs>
  <Slides>40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40</vt:i4>
      </vt:variant>
    </vt:vector>
  </HeadingPairs>
  <TitlesOfParts>
    <vt:vector size="45" baseType="lpstr">
      <vt:lpstr>Aptos</vt:lpstr>
      <vt:lpstr>Aptos Serif</vt:lpstr>
      <vt:lpstr>Arial</vt:lpstr>
      <vt:lpstr>Calibri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4 - Tests med pytest</dc:title>
  <dc:creator>Nina B. Müller (NIBM - Kommunikationsmedarbejder - Cphbusiness)</dc:creator>
  <cp:lastModifiedBy>Nina B. Müller (NIBM - Kommunikationsmedarbejder - Cphbusiness)</cp:lastModifiedBy>
  <cp:revision>2</cp:revision>
  <dcterms:created xsi:type="dcterms:W3CDTF">2025-06-26T10:44:11Z</dcterms:created>
  <dcterms:modified xsi:type="dcterms:W3CDTF">2025-06-30T11:27:36Z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0x010100E74AD318EC2E9B40AD8B7049EB16B85E</vt:lpwstr>
  </property>
</Properties>
</file>