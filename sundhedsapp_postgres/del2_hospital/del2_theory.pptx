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C61"/>
    <a:srgbClr val="333333"/>
    <a:srgbClr val="33ABB5"/>
    <a:srgbClr val="FCA28A"/>
    <a:srgbClr val="F8EDCA"/>
    <a:srgbClr val="E8D285"/>
    <a:srgbClr val="ACB504"/>
    <a:srgbClr val="0C53ED"/>
    <a:srgbClr val="0038A8"/>
    <a:srgbClr val="246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2"/>
    <p:restoredTop sz="94660"/>
  </p:normalViewPr>
  <p:slideViewPr>
    <p:cSldViewPr snapToGrid="0">
      <p:cViewPr varScale="1">
        <p:scale>
          <a:sx n="105" d="100"/>
          <a:sy n="105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customXml" Target="../customXml/item1.xml"/><Relationship Id="rId47" Type="http://schemas.openxmlformats.org/officeDocument/2006/relationships/customXml" Target="../customXml/item2.xml"/><Relationship Id="rId48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Opsummering af del 1: én patient-tabel med constraints, CRUD med t-strings og executemany(). I dag får patienterne en læge, og lægerne et hospital.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Bornholms Hospital har ingen læger, og Oliver Poulsen har ingen patienter. Derfor 'nul eller flere' (o&lt;) og ikke 'én eller flere' (|&lt;).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3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/Relationships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CB5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5065462-2700-C776-9398-3E67C1773D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263" r="10784" b="7869"/>
          <a:stretch>
            <a:fillRect/>
          </a:stretch>
        </p:blipFill>
        <p:spPr>
          <a:xfrm>
            <a:off x="0" y="822243"/>
            <a:ext cx="12192000" cy="60230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8184824-74E1-D79E-D7CD-20B5D122AB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04303" y="5944421"/>
            <a:ext cx="3168644" cy="89452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CD6CC98-4342-2A78-E6D8-1E48F96589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2335" y="1446829"/>
            <a:ext cx="11129227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rgbClr val="333333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66F3C40A-BB16-426A-716B-B190F83881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336" y="2292353"/>
            <a:ext cx="11129228" cy="3652067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3465451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78059"/>
            <a:ext cx="12192000" cy="6969512"/>
          </a:xfrm>
          <a:prstGeom prst="rect">
            <a:avLst/>
          </a:prstGeom>
          <a:solidFill>
            <a:srgbClr val="ACB5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FFCE30-225F-2B28-2234-D836DE9733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15FBE8F-A0E7-85B7-5D28-6EA4A1EE4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7821" y="906835"/>
            <a:ext cx="6062636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rgbClr val="333333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1E50DD4C-B05A-9D9C-1298-100FEAD63F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7821" y="1725559"/>
            <a:ext cx="6062636" cy="4210783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40976EB-B007-D8E8-0F64-4A816184A5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911" r="30763"/>
          <a:stretch>
            <a:fillRect/>
          </a:stretch>
        </p:blipFill>
        <p:spPr>
          <a:xfrm>
            <a:off x="0" y="0"/>
            <a:ext cx="5060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903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B35025B1-7DAA-BEC3-023B-53B064E4F8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CB5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14D965-0696-3E04-298B-AB996A465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33333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0CCBED-4346-6E83-8D04-9B77998A1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8796"/>
          </a:xfrm>
        </p:spPr>
        <p:txBody>
          <a:bodyPr/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0B0B2D9-5DBC-8F64-6D8F-FD17492D3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879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136BA7A-2D33-F09A-D91B-920433AF79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15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3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9D3788E-DF04-3F25-B2F2-39916224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CF4F2E5-1019-2F72-C943-C22FA2B4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F8E03F2-3148-CD75-07C7-E5DBEE154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EAAF4-5C60-4648-853A-0F85F719702F}" type="datetimeFigureOut">
              <a:rPr lang="da-DK" smtClean="0"/>
              <a:t>30.06.2025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B68D781-B182-ABF7-8F19-FC6B0637C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72B3DFC-B36F-3A09-8CE8-7EA169EA3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FCBD-0BB6-4C4B-8C52-DD65F470F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473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3"/>
    <p:sldLayoutId id="2147483671" r:id="rId18"/>
    <p:sldLayoutId id="2147483680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1" kern="1200">
          <a:solidFill>
            <a:srgbClr val="333333"/>
          </a:solidFill>
          <a:latin typeface="Aptos Serif" panose="02020604070405020304" pitchFamily="18" charset="0"/>
          <a:ea typeface="+mj-ea"/>
          <a:cs typeface="Aptos Serif" panose="0202060407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hyperlink" Target="https://www.postgresql.org/docs/current/ddl-constraints.html#DDL-CONSTRAINTS-FK" TargetMode="External"/><Relationship Id="rId3" Type="http://schemas.openxmlformats.org/officeDocument/2006/relationships/hyperlink" Target="https://www.postgresql.org/docs/current/tutorial-fk.html" TargetMode="External"/><Relationship Id="rId4" Type="http://schemas.openxmlformats.org/officeDocument/2006/relationships/hyperlink" Target="https://www.postgresql.org/docs/current/datatype-datetime.html" TargetMode="External"/><Relationship Id="rId5" Type="http://schemas.openxmlformats.org/officeDocument/2006/relationships/hyperlink" Target="https://www.pgadmin.org/docs/pgadmin4/latest/erd_tool.html" TargetMode="External"/><Relationship Id="rId6" Type="http://schemas.openxmlformats.org/officeDocument/2006/relationships/hyperlink" Target="https://www.postgresql.org/docs/current/tutorial-join.html" TargetMode="External"/><Relationship Id="rId7" Type="http://schemas.openxmlformats.org/officeDocument/2006/relationships/hyperlink" Target="https://www.postgresql.org/docs/current/tutorial-agg.html" TargetMode="External"/><Relationship Id="rId8" Type="http://schemas.openxmlformats.org/officeDocument/2006/relationships/hyperlink" Target="https://www.postgresql.org/docs/current/queries-table-expressions.html#QUERIES-GROUP" TargetMode="External"/><Relationship Id="rId9" Type="http://schemas.openxmlformats.org/officeDocument/2006/relationships/hyperlink" Target="https://www.w3schools.com/sql/sql_join.asp" TargetMode="External"/><Relationship Id="rId10" Type="http://schemas.openxmlformats.org/officeDocument/2006/relationships/hyperlink" Target="https://www.w3schools.com/sql/sql_having.asp" TargetMode="External"/><Relationship Id="rId11" Type="http://schemas.openxmlformats.org/officeDocument/2006/relationships/hyperlink" Target="https://www.postgresql.org/docs/current/sql-createfunction.html" TargetMode="External"/><Relationship Id="rId12" Type="http://schemas.openxmlformats.org/officeDocument/2006/relationships/hyperlink" Target="https://www.postgresql.org/docs/current/sql-createprocedure.html" TargetMode="External"/><Relationship Id="rId13" Type="http://schemas.openxmlformats.org/officeDocument/2006/relationships/hyperlink" Target="https://www.postgresql.org/docs/current/plpgsql-control-structures.html" TargetMode="External"/><Relationship Id="rId14" Type="http://schemas.openxmlformats.org/officeDocument/2006/relationships/hyperlink" Target="https://www.postgresql.org/docs/current/plpgsql-errors-and-messages.html" TargetMode="External"/><Relationship Id="rId15" Type="http://schemas.openxmlformats.org/officeDocument/2006/relationships/hyperlink" Target="https://www.psycopg.org/psycopg3/docs/api/errors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0" y="1158240"/>
            <a:ext cx="6095999" cy="1828800"/>
          </a:xfrm>
        </p:spPr>
        <p:txBody>
          <a:bodyPr wrap="square" anchor="b" lIns="0" rIns="0" tIns="0" bIns="0"/>
          <a:lstStyle/>
          <a:p>
            <a:r>
              <a:rPr sz="4266"/>
              <a:t>Hospitaler, læger og patienter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8320" y="3169920"/>
            <a:ext cx="6095999" cy="1219200"/>
          </a:xfrm>
        </p:spPr>
        <p:txBody>
          <a:bodyPr wrap="square" anchor="t" lIns="0" rIns="0" tIns="0" bIns="0"/>
          <a:lstStyle/>
          <a:p>
            <a:r>
              <a:rPr sz="2133"/>
              <a:t>Fra én tabel til tre: relationships, JOIN, GROUP BY og stored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0" y="670560"/>
            <a:ext cx="6095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Lektion 5 · Del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4F5400"/>
                </a:solidFill>
                <a:latin typeface="Calibri"/>
              </a:rPr>
              <a:t>Foreign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4F5400"/>
                </a:solidFill>
                <a:latin typeface="Calibri"/>
              </a:rPr>
              <a:t>JOIN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4F5400"/>
                </a:solidFill>
                <a:latin typeface="Calibri"/>
              </a:rPr>
              <a:t>GROUP BY + HAVING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4F5400"/>
                </a:solidFill>
                <a:latin typeface="Calibri"/>
              </a:rPr>
              <a:t>Stored procedures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Planen for del 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Trin 1–3 hjemme, trin 4–7 i undervisningen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47B00"/>
                </a:solidFill>
                <a:latin typeface="Aptos Serif"/>
              </a:rPr>
              <a:t>Hjemme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512063" cy="512063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Læs theory.md, ret password i db.py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169920"/>
            <a:ext cx="512063" cy="512063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120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Udvid ER diagrammet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901440"/>
            <a:ext cx="512063" cy="512063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120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CREATE TABLE med foreign keys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4632960"/>
            <a:ext cx="512063" cy="512063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1120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Fyld tabellerne (seed.py)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19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38A8"/>
                </a:solidFill>
                <a:latin typeface="Aptos Serif"/>
              </a:rPr>
              <a:t>I undervisningen</a:t>
            </a:r>
          </a:p>
        </p:txBody>
      </p:sp>
      <p:sp>
        <p:nvSpPr>
          <p:cNvPr id="19" name="Oval 18"/>
          <p:cNvSpPr/>
          <p:nvPr/>
        </p:nvSpPr>
        <p:spPr>
          <a:xfrm>
            <a:off x="6217919" y="243840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JOIN: sæt tabellerne sammen</a:t>
            </a:r>
          </a:p>
        </p:txBody>
      </p:sp>
      <p:sp>
        <p:nvSpPr>
          <p:cNvPr id="22" name="Oval 21"/>
          <p:cNvSpPr/>
          <p:nvPr/>
        </p:nvSpPr>
        <p:spPr>
          <a:xfrm>
            <a:off x="6217919" y="316992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GROUP BY: tæl og regn per gruppe</a:t>
            </a:r>
          </a:p>
        </p:txBody>
      </p:sp>
      <p:sp>
        <p:nvSpPr>
          <p:cNvPr id="25" name="Oval 24"/>
          <p:cNvSpPr/>
          <p:nvPr/>
        </p:nvSpPr>
        <p:spPr>
          <a:xfrm>
            <a:off x="6217919" y="390144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HAVING: filtrér grupper</a:t>
            </a:r>
          </a:p>
        </p:txBody>
      </p:sp>
      <p:sp>
        <p:nvSpPr>
          <p:cNvPr id="28" name="Oval 27"/>
          <p:cNvSpPr/>
          <p:nvPr/>
        </p:nvSpPr>
        <p:spPr>
          <a:xfrm>
            <a:off x="6217919" y="463296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19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Stored procedures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Hvorfor ikke bare flere kolonner i patient?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Én stor tabel gentager de samme oplysninger igen og igen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828800"/>
          <a:ext cx="9143999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584960"/>
                <a:gridCol w="2438400"/>
                <a:gridCol w="2316480"/>
                <a:gridCol w="1463039"/>
              </a:tblGrid>
              <a:tr h="487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patient_id</a:t>
                      </a:r>
                    </a:p>
                  </a:txBody>
                  <a:tcPr marL="97536" marR="97536" marT="36575" marB="36575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first_name</a:t>
                      </a:r>
                    </a:p>
                  </a:txBody>
                  <a:tcPr marL="97536" marR="97536" marT="36575" marB="36575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doctor_name</a:t>
                      </a:r>
                    </a:p>
                  </a:txBody>
                  <a:tcPr marL="97536" marR="97536" marT="36575" marB="36575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hospital_name</a:t>
                      </a:r>
                    </a:p>
                  </a:txBody>
                  <a:tcPr marL="97536" marR="97536" marT="36575" marB="36575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bed_count</a:t>
                      </a:r>
                    </a:p>
                  </a:txBody>
                  <a:tcPr marL="97536" marR="97536" marT="36575" marB="36575" anchor="ctr"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Kevin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Mette Sørensen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Rigshospitalet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1100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Karen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Mette Sørensen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Rigshospitalet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1100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Erik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Mette Sørensen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Rigshospitalet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1100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4084320"/>
            <a:ext cx="5364480" cy="146303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4206240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Redundans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4596384"/>
            <a:ext cx="49987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Rigshospitalet får flere senge: du skal ændre alle rækker. Glemmer du én, er data uenige med sig selv.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19" y="4084320"/>
            <a:ext cx="5364480" cy="1463039"/>
          </a:xfrm>
          <a:prstGeom prst="rect">
            <a:avLst/>
          </a:prstGeom>
          <a:solidFill>
            <a:srgbClr val="4F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760" y="4206240"/>
            <a:ext cx="4876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Aptos Serif"/>
              </a:rPr>
              <a:t>Løsningen: én tabel per 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760" y="4693920"/>
            <a:ext cx="48768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EEF2C6"/>
                </a:solidFill>
                <a:latin typeface="Courier New"/>
              </a:rPr>
              <a:t>hospital  1 ──&lt; doctor  1 ──&lt;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791200"/>
            <a:ext cx="10972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ER-metoden trin 7 fra del 1: "Beskriver hver kolonne denne entity?"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Relationships og foreign keys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ER diagram → CREATE TABLE → seed (trin 1–3)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ER diagrammet for del 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To one-to-many relationships. FK = foreign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06879"/>
            <a:ext cx="2926079" cy="548640"/>
          </a:xfrm>
          <a:prstGeom prst="rect">
            <a:avLst/>
          </a:prstGeom>
          <a:solidFill>
            <a:srgbClr val="4F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0687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Serif"/>
              </a:rPr>
              <a:t>hospital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5519"/>
            <a:ext cx="2926079" cy="1328928"/>
          </a:xfrm>
          <a:prstGeom prst="rect">
            <a:avLst/>
          </a:prstGeom>
          <a:solidFill>
            <a:srgbClr val="FFFFFF"/>
          </a:solidFill>
          <a:ln w="21166">
            <a:solidFill>
              <a:srgbClr val="4F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7135" y="2316480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240" y="2316480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hospital_id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9775" y="2316480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35" y="2718816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240" y="2718816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hospital_name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5" y="2718816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35" y="3121152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240" y="3121152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bed_count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5" y="3121152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2960" y="1706879"/>
            <a:ext cx="2926079" cy="548640"/>
          </a:xfrm>
          <a:prstGeom prst="rect">
            <a:avLst/>
          </a:prstGeom>
          <a:solidFill>
            <a:srgbClr val="4F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2960" y="170687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Serif"/>
              </a:rPr>
              <a:t>doctor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2960" y="2255519"/>
            <a:ext cx="2926079" cy="2938272"/>
          </a:xfrm>
          <a:prstGeom prst="rect">
            <a:avLst/>
          </a:prstGeom>
          <a:solidFill>
            <a:srgbClr val="FFFFFF"/>
          </a:solidFill>
          <a:ln w="21166">
            <a:solidFill>
              <a:srgbClr val="4F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0496" y="2316480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599" y="2316480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doctor_id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5" y="2316480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0496" y="2718816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599" y="2718816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doctor_name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5" y="2718816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0496" y="3121152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599" y="3121152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hospital_id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5" y="3121152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0496" y="3523487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599" y="3523487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joining_date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5" y="3523487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0496" y="3925823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599" y="3925823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speciality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5" y="3925823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0496" y="4328159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599" y="4328159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salary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3135" y="4328159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0496" y="4730496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599" y="4730496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experience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5" y="4730496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int·null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56319" y="1706879"/>
            <a:ext cx="2926079" cy="548640"/>
          </a:xfrm>
          <a:prstGeom prst="rect">
            <a:avLst/>
          </a:prstGeom>
          <a:solidFill>
            <a:srgbClr val="4F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6319" y="170687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Serif"/>
              </a:rPr>
              <a:t>patient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56319" y="2255519"/>
            <a:ext cx="2926079" cy="2938272"/>
          </a:xfrm>
          <a:prstGeom prst="rect">
            <a:avLst/>
          </a:prstGeom>
          <a:solidFill>
            <a:srgbClr val="FFFFFF"/>
          </a:solidFill>
          <a:ln w="21166">
            <a:solidFill>
              <a:srgbClr val="4F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3856" y="2316480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PK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4960" y="2316480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patient_id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6496" y="2316480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3856" y="2718816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4960" y="2718816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first_name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6496" y="2718816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3856" y="3121152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04960" y="3121152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last_name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26496" y="3121152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3856" y="3523487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4960" y="3523487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6496" y="3523487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3856" y="3925823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4960" y="3925823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blood_type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26496" y="3925823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53856" y="4328159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4960" y="4328159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allergies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26496" y="4328159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text·null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53856" y="4730496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FK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4960" y="4730496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doctor_id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26496" y="4730496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535679" y="1975104"/>
            <a:ext cx="1097281" cy="0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694175" y="1828800"/>
            <a:ext cx="0" cy="292608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816095" y="1828800"/>
            <a:ext cx="0" cy="292608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328159" y="1816608"/>
            <a:ext cx="304801" cy="158496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328159" y="1975104"/>
            <a:ext cx="304801" cy="158495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084319" y="1889759"/>
            <a:ext cx="170688" cy="170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7559039" y="1975104"/>
            <a:ext cx="1097280" cy="0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717536" y="1828800"/>
            <a:ext cx="0" cy="292608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39456" y="1828800"/>
            <a:ext cx="0" cy="292608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351520" y="1816608"/>
            <a:ext cx="304799" cy="158496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351520" y="1975104"/>
            <a:ext cx="304799" cy="158495"/>
          </a:xfrm>
          <a:prstGeom prst="line">
            <a:avLst/>
          </a:prstGeom>
          <a:ln w="29633">
            <a:solidFill>
              <a:srgbClr val="4F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107679" y="1889759"/>
            <a:ext cx="170688" cy="170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9600" y="3718560"/>
            <a:ext cx="2926079" cy="195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Ét hospital har nul eller flere læger.</a:t>
            </a:r>
          </a:p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Én læge har nul eller flere patienter.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Hvor skal foreign key'en stå?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Sig relationship'et i begge retninger, og find "mange"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6827519" cy="134112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975104"/>
            <a:ext cx="6339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Et hospital har mange læger.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En læge arbejder på ét hospital.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19999" y="2328672"/>
            <a:ext cx="365759" cy="341376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68640" y="1828800"/>
            <a:ext cx="3413759" cy="1341120"/>
          </a:xfrm>
          <a:prstGeom prst="rect">
            <a:avLst/>
          </a:prstGeom>
          <a:solidFill>
            <a:srgbClr val="4F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8640" y="1828800"/>
            <a:ext cx="3413759" cy="1341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ourier New"/>
              </a:rPr>
              <a:t>doctor.hospital_id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413759"/>
            <a:ext cx="6827519" cy="134112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439" y="3560064"/>
            <a:ext cx="6339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En læge har mange patienter.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En patient har én læge.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19999" y="3913631"/>
            <a:ext cx="365759" cy="341376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8640" y="3413759"/>
            <a:ext cx="3413759" cy="1341120"/>
          </a:xfrm>
          <a:prstGeom prst="rect">
            <a:avLst/>
          </a:prstGeom>
          <a:solidFill>
            <a:srgbClr val="4F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640" y="3413759"/>
            <a:ext cx="3413759" cy="1341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ourier New"/>
              </a:rPr>
              <a:t>patient.doctor_id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120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38A8"/>
                </a:solidFill>
                <a:latin typeface="Calibri"/>
              </a:rPr>
              <a:t>Reglen: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i et one-to-many relationship står foreign key'en altid på mange-siden. Et hospital kan ikke have en doctor_id: der er ikke plads til mange læger i én celle.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1.5: den udleverede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Den virker, men har fire svagheder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5242559" cy="34747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4876800" cy="3230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CREATE TABLE Doctor 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Doctor_Id INTEGER NOT NULL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PRIMARY KEY,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Doctor_Name TEXT NOT NULL,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Hospital_Id INTEGER NOT NULL,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Joining_Date TEXT NOT NULL,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Speciality TEXT NOT NULL,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Salary INTEGER NOT NULL,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Experience INTEGER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6959" y="1767839"/>
            <a:ext cx="5425440" cy="76809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78880" y="1889759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880" y="1889759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alibri"/>
              </a:rPr>
              <a:t>Hospital_Id er bare et 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57984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747B00"/>
                </a:solidFill>
                <a:latin typeface="Courier New"/>
              </a:rPr>
              <a:t>→ REFERENCES hospital (hospital_id)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959" y="2657855"/>
            <a:ext cx="5425440" cy="76809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8880" y="2779775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880" y="2779775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18815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alibri"/>
              </a:rPr>
              <a:t>Joining_Date TEXT tager 'i går'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47999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747B00"/>
                </a:solidFill>
                <a:latin typeface="Courier New"/>
              </a:rPr>
              <a:t>→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59" y="3547872"/>
            <a:ext cx="5425440" cy="76809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3669792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366979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08831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alibri"/>
              </a:rPr>
              <a:t>Vi skal selv finde på id'er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938016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747B00"/>
                </a:solidFill>
                <a:latin typeface="Courier New"/>
              </a:rPr>
              <a:t>→ GENERATED ALWAYS AS IDENTITY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959" y="4437887"/>
            <a:ext cx="5425440" cy="76809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78880" y="4559808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8880" y="4559808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498847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alibri"/>
              </a:rPr>
              <a:t>Store_Og_Små bliver små alligevel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28031"/>
            <a:ext cx="4511040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747B00"/>
                </a:solidFill>
                <a:latin typeface="Courier New"/>
              </a:rPr>
              <a:t>→ snake_case: hospital_id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486400"/>
            <a:ext cx="109728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PostgreSQL laver navne uden "anførselstegn" om til små bogstaver: Hospital_Id er hospital_id.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2: REFERENCES i praksis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Databasen håndhæver relationship'et begge veje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1060703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hospital_id  INTEGER NOT NULL REFERENCES hospital (hospital_id),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926079"/>
            <a:ext cx="53644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F5400"/>
                </a:solidFill>
                <a:latin typeface="Aptos Serif"/>
              </a:rPr>
              <a:t>Indsæt en læge på hospital 99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413759"/>
            <a:ext cx="5364480" cy="9753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3560064"/>
            <a:ext cx="4998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INSERT INTO doctor (..., hospital_id, ...)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VALUES (..., 99, ...);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511040"/>
            <a:ext cx="5364480" cy="97536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4572000"/>
            <a:ext cx="499871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C0392B"/>
                </a:solidFill>
                <a:latin typeface="Courier New"/>
              </a:rPr>
              <a:t>Key (hospital_id)=(99) is not present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C0392B"/>
                </a:solidFill>
                <a:latin typeface="Courier New"/>
              </a:rPr>
              <a:t>in table "hospital"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9" y="2926079"/>
            <a:ext cx="53644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F5400"/>
                </a:solidFill>
                <a:latin typeface="Aptos Serif"/>
              </a:rPr>
              <a:t>Slet et hospital med læger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3413759"/>
            <a:ext cx="5364480" cy="9753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60064"/>
            <a:ext cx="4998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DELETE FROM hospital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WHERE hospital_id = 1;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19" y="4511040"/>
            <a:ext cx="5364480" cy="97536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99871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C0392B"/>
                </a:solidFill>
                <a:latin typeface="Courier New"/>
              </a:rPr>
              <a:t>Key (hospital_id)=(1) is still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C0392B"/>
                </a:solidFill>
                <a:latin typeface="Courier New"/>
              </a:rPr>
              <a:t>referenced from table "doctor"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730240"/>
            <a:ext cx="10972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Det kaldes referentiel integritet: ingen læge peger på et hospital, der ikke findes.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Rækkefølgen betyder noget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Man kan kun pege på noget, der findes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767839"/>
          <a:ext cx="10972799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4389120"/>
                <a:gridCol w="3779519"/>
              </a:tblGrid>
              <a:tr h="585215"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Handling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Rækkefølge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Hvorfor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CREATE TABLE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hospital → doctor → patient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REFERENCES kræver tabellen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INSERT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hospital → doctor → patient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FK'en skal findes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585215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DELETE / DROP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patient → doctor → hospital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ingen må pege på den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389120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F5400"/>
                </a:solidFill>
                <a:latin typeface="Aptos Serif"/>
              </a:rPr>
              <a:t>Genvejen: nævn alle tabellerne i ét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876800"/>
            <a:ext cx="10972800" cy="10363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5023104"/>
            <a:ext cx="10607039" cy="79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DROP TABLE IF EXISTS patient, doctor, hospital;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TRUNCATE patient, doctor, hospital RESTART IDENTITY;   -- tøm, og start id'er ved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1.6: One-to-Many i pgAdmin 9.18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ERD Tool: tegn relationship'et, og lad pgAdmin skrive FK'en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1828800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120" y="1828800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Højreklik på sundhedsapp → ERD For Database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706623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7066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1120" y="2706623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Add table: hospital og doctor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3584448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5844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120" y="3584448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joining_date = date, id'er = IDENTITY / ALWAYS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462272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4622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120" y="4462272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Tilføj doctor_id (integer) i patient</a:t>
            </a:r>
          </a:p>
        </p:txBody>
      </p:sp>
      <p:sp>
        <p:nvSpPr>
          <p:cNvPr id="17" name="Oval 16"/>
          <p:cNvSpPr/>
          <p:nvPr/>
        </p:nvSpPr>
        <p:spPr>
          <a:xfrm>
            <a:off x="6217919" y="1828800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39" y="1828800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Marker doctor (mange-siden)</a:t>
            </a:r>
          </a:p>
        </p:txBody>
      </p:sp>
      <p:sp>
        <p:nvSpPr>
          <p:cNvPr id="20" name="Oval 19"/>
          <p:cNvSpPr/>
          <p:nvPr/>
        </p:nvSpPr>
        <p:spPr>
          <a:xfrm>
            <a:off x="6217919" y="2706623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27066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39" y="2706623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Klik One-to-Many i værktøjslinjen</a:t>
            </a:r>
          </a:p>
        </p:txBody>
      </p:sp>
      <p:sp>
        <p:nvSpPr>
          <p:cNvPr id="23" name="Oval 22"/>
          <p:cNvSpPr/>
          <p:nvPr/>
        </p:nvSpPr>
        <p:spPr>
          <a:xfrm>
            <a:off x="6217919" y="3584448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19" y="35844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3584448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Local column hospital_id → hospital.hospital_id</a:t>
            </a:r>
          </a:p>
        </p:txBody>
      </p:sp>
      <p:sp>
        <p:nvSpPr>
          <p:cNvPr id="26" name="Oval 25"/>
          <p:cNvSpPr/>
          <p:nvPr/>
        </p:nvSpPr>
        <p:spPr>
          <a:xfrm>
            <a:off x="6217919" y="4462272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446227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4462272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Gentag for patient.doctor_id, gem som hospital.pgerd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547360"/>
            <a:ext cx="10972800" cy="67056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439" y="5547360"/>
            <a:ext cx="10485119" cy="67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Tip: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Generate SQL viser FK'en som ALTER TABLE ... ADD FOREIGN KEY. Det er det samme som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JOIN, GROUP BY og HAVING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Sæt tabellerne sammen, og regn på grupper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JOIN: sæt tabellerne sammen igen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ON siger, hvilke rækker der hører sammen: FK = PK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583680" cy="1645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217920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SELECT d.doctor_name, h.hospital_name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FROM doctor AS d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JOIN hospital AS h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ON h.hospital_id = d.hospital_id;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767839"/>
            <a:ext cx="4084320" cy="121920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889759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AS d, AS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79904"/>
            <a:ext cx="371856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Aliaser: korte navne. Påkrævet, når to tabeller har samme kolonnenavn.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3169919"/>
            <a:ext cx="4084320" cy="121920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291839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681983"/>
            <a:ext cx="3718560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Foreign key = primary key. Uden ON hører alle rækker sammen.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657600"/>
            <a:ext cx="65836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60" b="1" i="0">
                <a:solidFill>
                  <a:srgbClr val="4F5400"/>
                </a:solidFill>
                <a:latin typeface="Aptos Serif"/>
              </a:rPr>
              <a:t>Resultat (uddrag):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4084320"/>
          <a:ext cx="658367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3413759"/>
              </a:tblGrid>
              <a:tr h="414528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doctor_name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hospital_name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Mette Sørensen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Rigshospitalet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Ali Hassan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Aarhus Universitetshospital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09600" y="5608320"/>
            <a:ext cx="10972800" cy="67056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439" y="5608320"/>
            <a:ext cx="10485119" cy="67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Uden ON: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FROM doctor, hospital giver 9 × 5 = 45 rækker (kartesisk produkt).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JOIN eller LEFT JOIN?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Hvad sker der med et hospital uden læger?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67839"/>
            <a:ext cx="536448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F5400"/>
                </a:solidFill>
                <a:latin typeface="Courier New"/>
              </a:rPr>
              <a:t>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55520"/>
            <a:ext cx="53644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kun rækker med et match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804160"/>
          <a:ext cx="53644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</a:tblGrid>
              <a:tr h="438912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hospital_name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doctor_name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Rigshospitalet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Mette Sørensen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Aalborg Univ.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Ida Rasmussen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693920"/>
            <a:ext cx="53644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Bornholm forsvinder.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9" y="1767839"/>
            <a:ext cx="536448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747B00"/>
                </a:solidFill>
                <a:latin typeface="Courier New"/>
              </a:rPr>
              <a:t>LEFT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19" y="2255520"/>
            <a:ext cx="536448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alle rækker fra venstre tabel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19" y="2804160"/>
          <a:ext cx="5364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</a:tblGrid>
              <a:tr h="438912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hospital_name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doctor_name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Rigshospitalet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Mette Sørensen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Aalborg Univ.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Ida Rasmussen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Bornholms Hospital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19" y="4693920"/>
            <a:ext cx="53644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2E8B57"/>
                </a:solidFill>
                <a:latin typeface="Calibri"/>
              </a:rPr>
              <a:t>Bornholm er med, med NULL.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5364480"/>
            <a:ext cx="10972800" cy="73151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" y="5510784"/>
            <a:ext cx="10607039" cy="487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FROM hospital AS h LEFT JOIN doctor AS d ON d.hospital_id = h.hospital_id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Aggregatfunktioner: mange rækker → én værdi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63039"/>
          <a:ext cx="8168639" cy="307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3535679"/>
                <a:gridCol w="1950720"/>
              </a:tblGrid>
              <a:tr h="51206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Funktion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Giver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doctor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COUNT(*)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antal rækker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COUNT(experience)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antal, der ikke er NULL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SUM(salary)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summen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564000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AVG(salary)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gennemsnittet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62666.67…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51206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MIN / MAX(salary)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mindste / største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50000 / 78000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022080" y="1463039"/>
            <a:ext cx="2560320" cy="152399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4960" y="158496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4960" y="1975103"/>
            <a:ext cx="2194560" cy="938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springes over. To læger har ukendt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22080" y="3169919"/>
            <a:ext cx="2560320" cy="152399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04960" y="3291839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::integer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4960" y="3681983"/>
            <a:ext cx="2194560" cy="938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caster AVG til et heltal og runder.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76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F5400"/>
                </a:solidFill>
                <a:latin typeface="Calibri"/>
              </a:rPr>
              <a:t>Uden GROUP BY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regner en aggregatfunktion på hele tabellen og giver én række. </a:t>
            </a:r>
            <a:r>
              <a:rPr sz="2000" b="1" i="0">
                <a:solidFill>
                  <a:srgbClr val="747B00"/>
                </a:solidFill>
                <a:latin typeface="Calibri"/>
              </a:rPr>
              <a:t>Med GROUP BY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regner den én gang per gruppe.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GROUP BY: læg rækkerne i bunker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SELECT speciality, COUNT(*), AVG(salary)::integer FROM doctor GROUP BY speciality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5608320" cy="40233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767839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Almen medicin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4160" y="1767839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Oliver Poulsen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8719" y="1767839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50000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218943"/>
            <a:ext cx="5608320" cy="40233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18943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Almen medicin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4160" y="2218943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Ida Rasmussen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8719" y="2218943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60000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743200"/>
            <a:ext cx="5608320" cy="402336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743200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Kardiologi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4160" y="2743200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Mette Sørensen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719" y="2743200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72000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194303"/>
            <a:ext cx="5608320" cy="402336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194303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Kardiologi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160" y="3194303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Jonas Madsen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8719" y="3194303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58000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645407"/>
            <a:ext cx="5608320" cy="402336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645407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Kardiologi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160" y="3645407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Peter Larsen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8719" y="3645407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69000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169663"/>
            <a:ext cx="5608320" cy="402336"/>
          </a:xfrm>
          <a:prstGeom prst="rect">
            <a:avLst/>
          </a:prstGeom>
          <a:solidFill>
            <a:srgbClr val="E6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4169663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Ortopædkirurgi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4160" y="4169663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Ali Hassan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8719" y="4169663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78000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4620767"/>
            <a:ext cx="5608320" cy="402336"/>
          </a:xfrm>
          <a:prstGeom prst="rect">
            <a:avLst/>
          </a:prstGeom>
          <a:solidFill>
            <a:srgbClr val="E6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4620767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Ortopædkirurgi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4160" y="4620767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Freja Andersen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8719" y="4620767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64000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145023"/>
            <a:ext cx="5608320" cy="402336"/>
          </a:xfrm>
          <a:prstGeom prst="rect">
            <a:avLst/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19" y="5145023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Pædiatri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4160" y="5145023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Sara Nielsen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8719" y="5145023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61000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5596127"/>
            <a:ext cx="5608320" cy="402336"/>
          </a:xfrm>
          <a:prstGeom prst="rect">
            <a:avLst/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5596127"/>
            <a:ext cx="207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333333"/>
                </a:solidFill>
                <a:latin typeface="Calibri"/>
              </a:rPr>
              <a:t>Pædiatri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4160" y="5596127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Emma Kristensen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8719" y="5596127"/>
            <a:ext cx="10972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52000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461760" y="3596640"/>
            <a:ext cx="365759" cy="341376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71359" y="1767839"/>
            <a:ext cx="45110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1" i="0">
                <a:solidFill>
                  <a:srgbClr val="4F5400"/>
                </a:solidFill>
                <a:latin typeface="Courier New"/>
              </a:rPr>
              <a:t>speciality · count · avg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71359" y="2377439"/>
            <a:ext cx="4511040" cy="585215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3280" y="2377439"/>
            <a:ext cx="2316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Almen medicin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59" y="2377439"/>
            <a:ext cx="6096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377439"/>
            <a:ext cx="12192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55000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71359" y="3108959"/>
            <a:ext cx="4511040" cy="585215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93280" y="3108959"/>
            <a:ext cx="2316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Kardiologi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59" y="3108959"/>
            <a:ext cx="6096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3108959"/>
            <a:ext cx="12192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66333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71359" y="3840479"/>
            <a:ext cx="4511040" cy="585215"/>
          </a:xfrm>
          <a:prstGeom prst="rect">
            <a:avLst/>
          </a:prstGeom>
          <a:solidFill>
            <a:srgbClr val="E6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93280" y="3840479"/>
            <a:ext cx="2316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Ortopædkirurgi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59" y="3840479"/>
            <a:ext cx="6096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840479"/>
            <a:ext cx="12192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71000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71359" y="4572000"/>
            <a:ext cx="4511040" cy="585215"/>
          </a:xfrm>
          <a:prstGeom prst="rect">
            <a:avLst/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3280" y="4572000"/>
            <a:ext cx="2316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Pædiatri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59" y="4572000"/>
            <a:ext cx="6096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4572000"/>
            <a:ext cx="12192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56500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71359" y="5425440"/>
            <a:ext cx="451104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747B00"/>
                </a:solidFill>
                <a:latin typeface="Calibri"/>
              </a:rPr>
              <a:t>9 rækker ind, 4 grupper ud. Én række per bunke.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Reglen for GROUP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Hver kolonne i SELECT står i GROUP BY eller i en aggregatfunktion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10972800" cy="73151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10607039" cy="487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SELECT speciality, doctor_name, COUNT(*) FROM doctor GROUP BY speciality;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82240"/>
            <a:ext cx="10972800" cy="914400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39" y="2682240"/>
            <a:ext cx="1048511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C0392B"/>
                </a:solidFill>
                <a:latin typeface="Courier New"/>
              </a:rPr>
              <a:t>ERROR: column "doctor.doctor_name" must appear in the GROUP BY clause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C0392B"/>
                </a:solidFill>
                <a:latin typeface="Courier New"/>
              </a:rPr>
              <a:t>       or be used in an aggregate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840479"/>
            <a:ext cx="5364480" cy="152399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3962399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Hvorfor?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4352544"/>
            <a:ext cx="4998720" cy="938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Bunken Kardiologi har tre læger. Hvilket navn skulle PostgreSQL vise? Det kan den ikke vide.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3840479"/>
            <a:ext cx="5364480" cy="152399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62399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Med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52544"/>
            <a:ext cx="4998720" cy="938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GROUP BY h.hospital_name og COUNT(d.doctor_id). COUNT(*) ville tælle Bornholms NULL-række som 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HAVING: filtrér grupper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WHERE smider rækker væk. HAVING smider bunker væk.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1584960" cy="73151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67839"/>
            <a:ext cx="158496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ourier New"/>
              </a:rPr>
              <a:t>FROM /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60320"/>
            <a:ext cx="15849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8944" y="2023871"/>
            <a:ext cx="243840" cy="243840"/>
          </a:xfrm>
          <a:prstGeom prst="rightArrow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99359" y="1767839"/>
            <a:ext cx="1584960" cy="731519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9359" y="1767839"/>
            <a:ext cx="158496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9359" y="2560320"/>
            <a:ext cx="15849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08704" y="2023871"/>
            <a:ext cx="243840" cy="243840"/>
          </a:xfrm>
          <a:prstGeom prst="rightArrow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67839"/>
            <a:ext cx="1584960" cy="73151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67839"/>
            <a:ext cx="158496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ourier New"/>
              </a:rPr>
              <a:t>GROUP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60320"/>
            <a:ext cx="15849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4" y="2023871"/>
            <a:ext cx="243840" cy="243840"/>
          </a:xfrm>
          <a:prstGeom prst="rightArrow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880" y="1767839"/>
            <a:ext cx="1584960" cy="731519"/>
          </a:xfrm>
          <a:prstGeom prst="rect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767839"/>
            <a:ext cx="158496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2560320"/>
            <a:ext cx="15849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88224" y="2023871"/>
            <a:ext cx="243840" cy="243840"/>
          </a:xfrm>
          <a:prstGeom prst="rightArrow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8640" y="1767839"/>
            <a:ext cx="1584960" cy="73151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8640" y="1767839"/>
            <a:ext cx="158496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ourier New"/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640" y="2560320"/>
            <a:ext cx="15849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5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77983" y="2023871"/>
            <a:ext cx="243840" cy="243840"/>
          </a:xfrm>
          <a:prstGeom prst="rightArrow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1767839"/>
            <a:ext cx="1584960" cy="731519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767839"/>
            <a:ext cx="158496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F5400"/>
                </a:solidFill>
                <a:latin typeface="Courier New"/>
              </a:rPr>
              <a:t>ORDER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560320"/>
            <a:ext cx="15849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0" i="0">
                <a:solidFill>
                  <a:srgbClr val="5F6B73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2987040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Den rækkefølge PostgreSQL udfører en query i. Ved WHERE findes der endnu ingen grupper at tælle.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596640"/>
            <a:ext cx="6583680" cy="201167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80" y="3742944"/>
            <a:ext cx="6217920" cy="176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SELECT speciality, AVG(salary)::integer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FROM doctor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WHERE hospital_id = 1         -- rækker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GROUP BY speciality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HAVING AVG(salary) &gt; 60000;   -- grupper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596640"/>
            <a:ext cx="4084320" cy="9753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3718560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WHERE COUNT(*) &gt;=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08704"/>
            <a:ext cx="3718560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ERROR: aggregate functions are not allowed in WHERE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657344"/>
            <a:ext cx="4084320" cy="9753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4779264"/>
            <a:ext cx="3718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Tommelfingerregel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169408"/>
            <a:ext cx="3718560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Én række nok? WHERE. Skal der tælles først? HAVING.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Stored procedures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FUNCTION og PROCEDURE: kode, der bor i databasen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Stored procedures: kode, der bor i databasen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I PostgreSQL findes to slags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5364480" cy="316992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950720"/>
            <a:ext cx="487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33" b="1" i="0">
                <a:solidFill>
                  <a:srgbClr val="747B00"/>
                </a:solidFill>
                <a:latin typeface="Courier New"/>
              </a:rPr>
              <a:t>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560320"/>
            <a:ext cx="4876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5F6B73"/>
                </a:solidFill>
                <a:latin typeface="Calibri"/>
              </a:rPr>
              <a:t>returnerer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39" y="3108959"/>
            <a:ext cx="487680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4F5400"/>
                </a:solidFill>
                <a:latin typeface="Calibri"/>
              </a:rPr>
              <a:t>Kaldes med:</a:t>
            </a:r>
          </a:p>
        </p:txBody>
      </p:sp>
      <p:sp>
        <p:nvSpPr>
          <p:cNvPr id="9" name="Rectangle 8"/>
          <p:cNvSpPr/>
          <p:nvPr/>
        </p:nvSpPr>
        <p:spPr>
          <a:xfrm>
            <a:off x="853439" y="3535679"/>
            <a:ext cx="4876800" cy="115824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681983"/>
            <a:ext cx="4511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SELECT * FROM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doctors_by_speciality('Kardiologi');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9" y="1767839"/>
            <a:ext cx="5364480" cy="316992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760" y="1950720"/>
            <a:ext cx="487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33" b="1" i="0">
                <a:solidFill>
                  <a:srgbClr val="0038A8"/>
                </a:solidFill>
                <a:latin typeface="Courier New"/>
              </a:rPr>
              <a:t>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760" y="2560320"/>
            <a:ext cx="4876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5F6B73"/>
                </a:solidFill>
                <a:latin typeface="Calibri"/>
              </a:rPr>
              <a:t>udfører en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760" y="3108959"/>
            <a:ext cx="487680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4F5400"/>
                </a:solidFill>
                <a:latin typeface="Calibri"/>
              </a:rPr>
              <a:t>Kaldes med: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3535679"/>
            <a:ext cx="4876800" cy="115824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4640" y="3681983"/>
            <a:ext cx="4511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CALL raise_salary('Pædiatri', 10);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242559"/>
            <a:ext cx="1097280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I daglig tale kalder man begge for stored procedures. CREATE OR REPLACE betyder, at du kan køre filen igen efter en ændring.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7.1: anatomien af en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Kroppen mellem $$ og $$ er en almindelig SELECT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402335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3779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CREATE OR REPLACE FUNCTION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doctors_by_speciality(p_speciality TEXT)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RETURNS TABLE (doctor_name TEXT,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   hospital_name TEXT,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   salary INTEGER)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LANGUAGE sql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AS $$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SELECT d.doctor_name, h.hospital_name, d.salary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FROM doctor AS d JOIN hospital AS h ...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WHERE d.speciality = p_speciality;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$$;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902207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53183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p_speciality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31136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parameteren. p_ = ikke en kolonne.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2791968"/>
            <a:ext cx="3840479" cy="902207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2877312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RETURNS TABLE (…)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255263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kolonnerne i resultatet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3816095"/>
            <a:ext cx="3840479" cy="902207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3901439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LANGUAGE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4279392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kroppen er ren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1919" y="4840224"/>
            <a:ext cx="3840479" cy="902207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799" y="4925568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38A8"/>
                </a:solidFill>
                <a:latin typeface="Courier New"/>
              </a:rPr>
              <a:t>$$ … $$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799" y="5303519"/>
            <a:ext cx="353567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anførselstegn om kroppen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7.3: en procedure med PL/pgSQL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Når koden skal træffe beslutninger eller melde fejl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40843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3840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CREATE OR REPLACE PROCEDURE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raise_salary(p_speciality TEXT, p_percent INTEGER)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LANGUAGE plpgsql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AS $$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BEGIN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UPDATE doctor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SET salary = salary + salary * p_percent / 100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WHERE speciality = p_speciality;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IF NOT FOUND THEN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RAISE EXCEPTION 'Ingen læger med specialet %',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    p_speciality;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END IF;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END;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$$;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1243584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BEGIN … END;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79904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Omslutter koden. Hvert statement slutter med 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3182112"/>
            <a:ext cx="3840479" cy="1243584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3304032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694176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true, hvis sidste statement ramte mindst én række.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4596384"/>
            <a:ext cx="3840479" cy="1243584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4718304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RAISE 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5108448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Stopper, ruller UPDATE tilbage og sender fejlen. % = værdien.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7.4–7.6: kald dem fra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Præcis som alle andre queries, med t-strings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10972800" cy="12801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10607039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conn.execute(t"SELECT * FROM doctors_by_speciality({speciality})").fetchall()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conn.execute(t"CALL raise_salary({speciality}, {percent})")     # ingen fetch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291840"/>
            <a:ext cx="6827519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438144"/>
            <a:ext cx="646176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from psycopg.errors import RaiseException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raise_salary("Tandlæge", 10)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except RaiseException as error: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logger.warning("Afvist: %s", error.diag.message_primary)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3291840"/>
            <a:ext cx="3840479" cy="9753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34137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RAISE EXCEPTION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3803904"/>
            <a:ext cx="3474720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bliver til RaiseException i Python.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4340352"/>
            <a:ext cx="3840479" cy="9753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4462272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Nulstil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852416"/>
            <a:ext cx="3474720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Hver kørsel hæver lønnen. Kør seed.py igen.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5425440"/>
            <a:ext cx="10972800" cy="6096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80" y="5571744"/>
            <a:ext cx="1060703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Afvist af proceduren: Ingen læger med specialet Tandlæge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Hvornår giver det mening?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Stored procedures er et værktøj, ikke et mål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1767839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120" y="176783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80" b="1" i="0">
                <a:solidFill>
                  <a:srgbClr val="2E8B57"/>
                </a:solidFill>
                <a:latin typeface="Aptos Serif"/>
              </a:rPr>
              <a:t>Fordele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60320"/>
            <a:ext cx="5364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66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• Reglen virker for alle programmer, der bruger databasen</a:t>
            </a:r>
          </a:p>
          <a:p>
            <a:pPr algn="l">
              <a:spcAft>
                <a:spcPts val="1066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• Kun én tur til databasen, selv for mange statements</a:t>
            </a:r>
          </a:p>
          <a:p>
            <a:pPr algn="l">
              <a:spcAft>
                <a:spcPts val="1066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• Kan ikke omgås af kode, der "glemmer" reglen</a:t>
            </a:r>
          </a:p>
        </p:txBody>
      </p:sp>
      <p:sp>
        <p:nvSpPr>
          <p:cNvPr id="9" name="Oval 8"/>
          <p:cNvSpPr/>
          <p:nvPr/>
        </p:nvSpPr>
        <p:spPr>
          <a:xfrm>
            <a:off x="6217919" y="1767839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19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39" y="176783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80" b="1" i="0">
                <a:solidFill>
                  <a:srgbClr val="C0392B"/>
                </a:solidFill>
                <a:latin typeface="Aptos Serif"/>
              </a:rPr>
              <a:t>Ulemper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9" y="2560320"/>
            <a:ext cx="5364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66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• Logikken er delt mellem Python og SQL</a:t>
            </a:r>
          </a:p>
          <a:p>
            <a:pPr algn="l">
              <a:spcAft>
                <a:spcPts val="1066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• Sværere at teste og versionsstyre</a:t>
            </a:r>
          </a:p>
          <a:p>
            <a:pPr algn="l">
              <a:spcAft>
                <a:spcPts val="1066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• PL/pgSQL er endnu et sprog at lære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120640"/>
            <a:ext cx="109728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4F5400"/>
                </a:solidFill>
                <a:latin typeface="Calibri"/>
              </a:rPr>
              <a:t>Tommelfingerregel: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regler om data hører hjemme i databasen. Regler om brugeren (login, visning) hører hjemme i Python. Det er emnet for del 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Sådan løser du trin 3–7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Mønstre, hints og de tjek, du skal kigge efter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3: fyld tabellerne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Samme executemany() som i del 1, nu med seks kolonner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207264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sql = """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INSERT INTO doctor (doctor_name, hospital_id,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joining_date, speciality, salary, experience)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VALUES (%s, %s, %s, %s, %s, %s)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"""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cursor.executemany(sql, DOCTORS)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return cursor.rowcount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023359"/>
            <a:ext cx="6827519" cy="15849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4169663"/>
            <a:ext cx="6461760" cy="1341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with get_connection() as conn, conn.cursor() as cursor: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cursor.execute("TRUNCATE ... RESTART IDENTITY")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insert_hospitals(cursor)   # 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insert_doctors(cursor)     # 2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insert_patients(cursor, rows)  # 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19481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date(2015, 3,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psycopg laver Pythons date om til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3084576"/>
            <a:ext cx="3840479" cy="119481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206496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Tom tabel efter fejl?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596640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seed() er én transaction. Fejler trin 2, rulles trin 1 tilbage.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401312"/>
            <a:ext cx="3840479" cy="119481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523232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API'et kører ikke?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913376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load_patients() bruger en kopi af patient.yml.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4.2: patients_at_hospital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Test i pgAdmin først, kopiér derefter ind som t-string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25603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2316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query = t"""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SELECT p.first_name, p.last_name, d.doctor_name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FROM patient AS p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JOIN doctor AS d ON d.doctor_id = p.doctor_id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WHERE d.hospital_id = {hospital_id}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ORDER BY p.last_name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"""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115824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Kun to tabeller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79904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hospital_id står allerede i doctor.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3108959"/>
            <a:ext cx="3840479" cy="115824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323088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621023"/>
            <a:ext cx="3474720" cy="57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patient.doctor_id peger på doctor.doctor_id.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32960"/>
            <a:ext cx="109728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2E8B57"/>
                </a:solidFill>
                <a:latin typeface="Calibri"/>
              </a:rPr>
              <a:t>✅ Tjek: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6 patienter på Rigshospitalet: Berg, Holm, Juhl, Kellerman, Larsson, Lund. Derefter NotImplementedError: trin 5.3.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5: GROUP BY i queries.py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5.1 GROUP BY id → 5.2 JOIN → 5.3 LEFT JOIN → 5.5 løn per speciale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88975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SELECT h.hospital_name,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COUNT(d.doctor_id) AS doctors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FROM hospital AS h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LEFT JOIN doctor AS d ON d.hospital_id = h.hospital_id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GROUP BY h.hospital_name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ORDER BY doctors DESC, h.hospital_name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840479"/>
            <a:ext cx="6827519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986783"/>
            <a:ext cx="646176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SELECT speciality,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COUNT(*)             AS doctors,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AVG(salary)::integer AS avg_salary,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MAX(salary)          AS max_salary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FROM doctor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GROUP BY speciality ORDER BY speciality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19481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hospital til venstre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LEFT JOIN beholder alle rækker fra tabellen i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3084576"/>
            <a:ext cx="3840479" cy="119481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206496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COUNT(d.doctor_id)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596640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Bornholm: 0. Med COUNT(*) ville det være 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401312"/>
            <a:ext cx="3840479" cy="1194816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523232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5.4 bryd reglen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913376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Tilføj d.doctor_name i SELECT, og læs fejlen.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6: HAVING med en t-string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En værdi i HAVING er en parameter, præcis som i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query = t"""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SELECT speciality, COUNT(*) AS doctors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FROM doctor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GROUP BY speciality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HAVING COUNT(*) &gt;= {min_doctors}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ORDER BY doctors DESC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"""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79519"/>
            <a:ext cx="6827519" cy="9144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925823"/>
            <a:ext cx="6461760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HAVING AVG(salary) &gt; {min_avg_salary}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34112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6.2 WHERE COUNT(*)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755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fejler: grupperne findes ikke endnu ved WHERE.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3291840"/>
            <a:ext cx="3840479" cy="134112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4137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4F5400"/>
                </a:solidFill>
                <a:latin typeface="Aptos Serif"/>
              </a:rPr>
              <a:t>6.3 begge dele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803904"/>
            <a:ext cx="3474720" cy="755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WHERE hospital_id = 1 (række) + HAVING AVG(salary) &gt; 60000 (gruppe).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98719"/>
            <a:ext cx="1097280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2E8B57"/>
                </a:solidFill>
                <a:latin typeface="Calibri"/>
              </a:rPr>
              <a:t>✅ Tjek: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6.1 → ('Kardiologi', 3).  6.4 → ('Ortopædkirurgi', 71000) og ('Kardiologi', 66333).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Almindelige fejl og hvad de betyder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63039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8320"/>
                <a:gridCol w="5364480"/>
              </a:tblGrid>
              <a:tr h="548640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Du ser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Det betyder</a:t>
                      </a:r>
                    </a:p>
                  </a:txBody>
                  <a:tcPr marL="97536" marR="97536" marT="36575" marB="36575" anchor="ctr">
                    <a:solidFill>
                      <a:srgbClr val="4F54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ForeignKeyViolation … is not present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FK peger på noget, der ikke findes (endnu)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ForeignKeyViolation … still referenced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andre rækker peger stadig på den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must appear in the GROUP BY clause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kolonne i SELECT er hverken grupperet eller aggregeret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aggregate functions are not allowed in WHERE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brug HAVING i stedet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column reference "hospital_id" is ambiguous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skriv d.hospital_id eller h.hospital_id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function … does not exist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kør procedures.sql i pgAdmin først</a:t>
                      </a:r>
                    </a:p>
                  </a:txBody>
                  <a:tcPr marL="97536" marR="97536" marT="36575" marB="36575" anchor="ctr">
                    <a:solidFill>
                      <a:srgbClr val="F1F4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RaiseException: Ingen læger …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din egen RAISE EXCEPTION, som tilsigtet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Læs mere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333333"/>
                </a:solidFill>
                <a:latin typeface="Calibri"/>
              </a:rPr>
              <a:t>Alle links står også nederst i theory.md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3474720" cy="365760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4F5400"/>
                </a:solidFill>
                <a:latin typeface="Aptos Serif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2"/>
              </a:rPr>
              <a:t>Foreign keys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3"/>
              </a:rPr>
              <a:t>Tutorial: foreign keys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4"/>
              </a:rPr>
              <a:t>Date/time types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5"/>
              </a:rPr>
              <a:t>pgAdmin ERD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59" y="1767839"/>
            <a:ext cx="3474720" cy="365760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4F5400"/>
                </a:solidFill>
                <a:latin typeface="Aptos Serif"/>
              </a:rPr>
              <a:t>JOIN og GROUP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6"/>
              </a:rPr>
              <a:t>Tutorial: joins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7"/>
              </a:rPr>
              <a:t>Tutorial: aggregates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8"/>
              </a:rPr>
              <a:t>GROUP BY og HAVING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9"/>
              </a:rPr>
              <a:t>W3Schools: JOIN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10"/>
              </a:rPr>
              <a:t>W3Schools: HAVING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767839"/>
            <a:ext cx="3474720" cy="365760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4F5400"/>
                </a:solidFill>
                <a:latin typeface="Aptos Serif"/>
              </a:rPr>
              <a:t>Stored procedures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11"/>
              </a:rPr>
              <a:t>CREATE FUNCTION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12"/>
              </a:rPr>
              <a:t>CREATE PROCEDURE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13"/>
              </a:rPr>
              <a:t>PL/pgSQL: IF og FOUND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14"/>
              </a:rPr>
              <a:t>PL/pgSQL: RAISE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747B00"/>
                </a:solidFill>
                <a:latin typeface="Calibri"/>
                <a:hlinkClick r:id="rId15"/>
              </a:rPr>
              <a:t>psycopg: errors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Din tur: exercise.md, trin 4–7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84960"/>
            <a:ext cx="2560320" cy="21945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39" y="1828800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F5400"/>
                </a:solidFill>
                <a:latin typeface="Calibri"/>
              </a:rPr>
              <a:t>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39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queries.py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7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759" y="1584960"/>
            <a:ext cx="2560320" cy="21945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828800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F5400"/>
                </a:solidFill>
                <a:latin typeface="Calibri"/>
              </a:rPr>
              <a:t>GROUP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LEFT JOIN +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9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19" y="1584960"/>
            <a:ext cx="2560320" cy="21945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760" y="1828800"/>
            <a:ext cx="548640" cy="548640"/>
          </a:xfrm>
          <a:prstGeom prst="ellipse">
            <a:avLst/>
          </a:prstGeom>
          <a:solidFill>
            <a:srgbClr val="74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76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F5400"/>
                </a:solidFill>
                <a:latin typeface="Calibri"/>
              </a:rPr>
              <a:t>HAVING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WHERE vs HAVING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6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2079" y="1584960"/>
            <a:ext cx="2560320" cy="2194560"/>
          </a:xfrm>
          <a:prstGeom prst="rect">
            <a:avLst/>
          </a:prstGeom>
          <a:solidFill>
            <a:srgbClr val="F1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65920" y="1828800"/>
            <a:ext cx="548640" cy="548640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592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92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F5400"/>
                </a:solidFill>
                <a:latin typeface="Calibri"/>
              </a:rPr>
              <a:t>Procedures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92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SELECT +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92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8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206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4F5400"/>
                </a:solidFill>
                <a:latin typeface="Calibri"/>
              </a:rPr>
              <a:t>Skriv SQL i pgAdmin først.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Når resultatet er rigtigt, kopierer du det over i Python.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4F5400"/>
                </a:solidFill>
                <a:latin typeface="Calibri"/>
              </a:rPr>
              <a:t>Sidder du fast?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1) læs fejlen nedefra og op  2) læs TODO-hintet  3) find slidet for trinnet  4) kig i solution/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4F5400"/>
                </a:solidFill>
                <a:latin typeface="Calibri"/>
              </a:rPr>
              <a:t>Færdig før tid?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Ekstraopgaver: tre tabeller i én query, år med EXTRACT, move_doctor, many-to-many.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æsentation3" id="{47A70E4D-E829-6142-8D7A-266DF559A7A1}" vid="{F2789681-2020-6642-AFF1-73227AA778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74AD318EC2E9B40AD8B7049EB16B85E" ma:contentTypeVersion="18" ma:contentTypeDescription="Opret et nyt dokument." ma:contentTypeScope="" ma:versionID="3d26f90c7d90d461162d5f348dd417a7">
  <xsd:schema xmlns:xsd="http://www.w3.org/2001/XMLSchema" xmlns:xs="http://www.w3.org/2001/XMLSchema" xmlns:p="http://schemas.microsoft.com/office/2006/metadata/properties" xmlns:ns2="23d56eaa-9f9a-4503-9a32-c18a3a465a0b" xmlns:ns3="8f5a357d-d106-42fe-9dda-037744778dbb" targetNamespace="http://schemas.microsoft.com/office/2006/metadata/properties" ma:root="true" ma:fieldsID="9665d199feccd5b7922aceb2e400657f" ns2:_="" ns3:_="">
    <xsd:import namespace="23d56eaa-9f9a-4503-9a32-c18a3a465a0b"/>
    <xsd:import namespace="8f5a357d-d106-42fe-9dda-037744778d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56eaa-9f9a-4503-9a32-c18a3a465a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9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0" nillable="true" ma:displayName="Location" ma:description="" ma:internalName="MediaServiceLocatio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61593edc-fe69-4ff2-86d1-67b90c929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a357d-d106-42fe-9dda-037744778d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f654023-ba1f-491e-9e42-068efaed9164}" ma:internalName="TaxCatchAll" ma:showField="CatchAllData" ma:web="8f5a357d-d106-42fe-9dda-037744778d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Indholdstype"/>
        <xsd:element ref="dc:title" minOccurs="0" maxOccurs="1" ma:index="3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5a357d-d106-42fe-9dda-037744778dbb" xsi:nil="true"/>
    <lcf76f155ced4ddcb4097134ff3c332f xmlns="23d56eaa-9f9a-4503-9a32-c18a3a465a0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34366C-A292-4D01-AFBA-DE8A74F09A66}"/>
</file>

<file path=customXml/itemProps2.xml><?xml version="1.0" encoding="utf-8"?>
<ds:datastoreItem xmlns:ds="http://schemas.openxmlformats.org/officeDocument/2006/customXml" ds:itemID="{8CFC123B-1928-4CD9-AC5A-F026DF92D7CA}"/>
</file>

<file path=customXml/itemProps3.xml><?xml version="1.0" encoding="utf-8"?>
<ds:datastoreItem xmlns:ds="http://schemas.openxmlformats.org/officeDocument/2006/customXml" ds:itemID="{138E7D14-521D-4692-AEBE-C1FBB0311BC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</TotalTime>
  <Words>0</Words>
  <Application>Microsoft Macintosh PowerPoint</Application>
  <PresentationFormat>Widescreen</PresentationFormat>
  <Paragraphs>0</Paragraphs>
  <Slides>40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40</vt:i4>
      </vt:variant>
    </vt:vector>
  </HeadingPairs>
  <TitlesOfParts>
    <vt:vector size="45" baseType="lpstr">
      <vt:lpstr>Aptos</vt:lpstr>
      <vt:lpstr>Aptos Serif</vt:lpstr>
      <vt:lpstr>Arial</vt:lpstr>
      <vt:lpstr>Calibri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2 - Hospitaler, JOIN, GROUP BY og stored procedures</dc:title>
  <dc:creator>Nina B. Müller (NIBM - Kommunikationsmedarbejder - Cphbusiness)</dc:creator>
  <cp:lastModifiedBy>Nina B. Müller (NIBM - Kommunikationsmedarbejder - Cphbusiness)</cp:lastModifiedBy>
  <cp:revision>2</cp:revision>
  <dcterms:created xsi:type="dcterms:W3CDTF">2025-06-26T10:44:11Z</dcterms:created>
  <dcterms:modified xsi:type="dcterms:W3CDTF">2025-06-30T11:27:36Z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0x010100E74AD318EC2E9B40AD8B7049EB16B85E</vt:lpwstr>
  </property>
</Properties>
</file>