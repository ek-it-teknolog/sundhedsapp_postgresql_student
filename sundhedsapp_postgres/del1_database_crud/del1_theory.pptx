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9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5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9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4C61"/>
    <a:srgbClr val="333333"/>
    <a:srgbClr val="33ABB5"/>
    <a:srgbClr val="FCA28A"/>
    <a:srgbClr val="F8EDCA"/>
    <a:srgbClr val="E8D285"/>
    <a:srgbClr val="ACB504"/>
    <a:srgbClr val="0C53ED"/>
    <a:srgbClr val="0038A8"/>
    <a:srgbClr val="2464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62"/>
    <p:restoredTop sz="94660"/>
  </p:normalViewPr>
  <p:slideViewPr>
    <p:cSldViewPr snapToGrid="0">
      <p:cViewPr varScale="1">
        <p:scale>
          <a:sx n="105" d="100"/>
          <a:sy n="105" d="100"/>
        </p:scale>
        <p:origin x="21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Relationship Id="rId39" Type="http://schemas.openxmlformats.org/officeDocument/2006/relationships/slide" Target="slides/slide30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Relationship Id="rId46" Type="http://schemas.openxmlformats.org/officeDocument/2006/relationships/customXml" Target="../customXml/item1.xml"/><Relationship Id="rId47" Type="http://schemas.openxmlformats.org/officeDocument/2006/relationships/customXml" Target="../customXml/item2.xml"/><Relationship Id="rId48" Type="http://schemas.openxmlformats.org/officeDocument/2006/relationships/customXml" Target="../customXml/item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Opsummering af lektion 4: API'et læser og skriver patient.yml, og /health_data kræver et bearer token. I dag flytter patienterne over i PostgreSQL.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NULL er ikke en værdi, det betyder 'ingen værdi'. Vi bruger det til 'ingen kendte allergier' i stedet for false eller 'No'.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demo: kør 'uv run python', og skriv linjerne fra kodeboksen. Vis sql.as_string(t'...') fra psycopg for at se, hvad psycopg ville sende.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Dette er en migration: at flytte data fra ét lager til et andet og rense dem undervejs. Bemærk, at /add_patient fra lektion 4 gemmer 'bloodtype', mens YAML-filen bruger 'blood_type', og to_row() håndterer begge.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image" Target="../media/image28.png"/><Relationship Id="rId5" Type="http://schemas.openxmlformats.org/officeDocument/2006/relationships/image" Target="../media/image29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image" Target="../media/image33.jp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svg"/></Relationships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>
            <a:extLst>
              <a:ext uri="{FF2B5EF4-FFF2-40B4-BE49-F238E27FC236}">
                <a16:creationId xmlns:a16="http://schemas.microsoft.com/office/drawing/2014/main" id="{C3BA29A4-58ED-73B3-D9C4-736FB4BD7C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8A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493C3D2-1B74-6A38-36B5-F43D43789E3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004301" y="5944421"/>
            <a:ext cx="3168648" cy="894528"/>
          </a:xfrm>
          <a:prstGeom prst="rect">
            <a:avLst/>
          </a:prstGeom>
        </p:spPr>
      </p:pic>
      <p:sp>
        <p:nvSpPr>
          <p:cNvPr id="6" name="Titel 1">
            <a:extLst>
              <a:ext uri="{FF2B5EF4-FFF2-40B4-BE49-F238E27FC236}">
                <a16:creationId xmlns:a16="http://schemas.microsoft.com/office/drawing/2014/main" id="{E2B88C3F-4A61-8932-D2BA-702E8FD96A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2335" y="1446829"/>
            <a:ext cx="11129227" cy="681038"/>
          </a:xfrm>
        </p:spPr>
        <p:txBody>
          <a:bodyPr anchor="b">
            <a:normAutofit/>
          </a:bodyPr>
          <a:lstStyle>
            <a:lvl1pPr algn="l">
              <a:defRPr sz="4000" b="0" i="1">
                <a:solidFill>
                  <a:schemeClr val="bg1"/>
                </a:solidFill>
                <a:latin typeface="Aptos Serif" panose="02020604070405020304" pitchFamily="18" charset="0"/>
                <a:cs typeface="Aptos Serif" panose="02020604070405020304" pitchFamily="18" charset="0"/>
              </a:defRPr>
            </a:lvl1pPr>
          </a:lstStyle>
          <a:p>
            <a:r>
              <a:rPr lang="da-DK" dirty="0"/>
              <a:t>Overskrift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C813CF4-7307-1723-8F95-7D128E2E92F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6180" r="10780" b="7760"/>
          <a:stretch>
            <a:fillRect/>
          </a:stretch>
        </p:blipFill>
        <p:spPr>
          <a:xfrm>
            <a:off x="0" y="822243"/>
            <a:ext cx="12192000" cy="6023057"/>
          </a:xfrm>
          <a:prstGeom prst="rect">
            <a:avLst/>
          </a:prstGeom>
        </p:spPr>
      </p:pic>
      <p:sp>
        <p:nvSpPr>
          <p:cNvPr id="8" name="Undertitel 2">
            <a:extLst>
              <a:ext uri="{FF2B5EF4-FFF2-40B4-BE49-F238E27FC236}">
                <a16:creationId xmlns:a16="http://schemas.microsoft.com/office/drawing/2014/main" id="{1E5B12BE-A561-C449-3A1A-F22911232B3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2336" y="2292353"/>
            <a:ext cx="11129228" cy="3652067"/>
          </a:xfr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 dirty="0"/>
              <a:t>Brødtekst</a:t>
            </a:r>
          </a:p>
        </p:txBody>
      </p:sp>
    </p:spTree>
    <p:extLst>
      <p:ext uri="{BB962C8B-B14F-4D97-AF65-F5344CB8AC3E}">
        <p14:creationId xmlns:p14="http://schemas.microsoft.com/office/powerpoint/2010/main" val="21639588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>
            <a:extLst>
              <a:ext uri="{FF2B5EF4-FFF2-40B4-BE49-F238E27FC236}">
                <a16:creationId xmlns:a16="http://schemas.microsoft.com/office/drawing/2014/main" id="{C3BA29A4-58ED-73B3-D9C4-736FB4BD7C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-66598"/>
            <a:ext cx="12192000" cy="6946900"/>
          </a:xfrm>
          <a:prstGeom prst="rect">
            <a:avLst/>
          </a:prstGeom>
          <a:solidFill>
            <a:srgbClr val="0038A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77FFCE30-225F-2B28-2234-D836DE97331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004301" y="5944421"/>
            <a:ext cx="3168648" cy="894529"/>
          </a:xfrm>
          <a:prstGeom prst="rect">
            <a:avLst/>
          </a:prstGeom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B15FBE8F-A0E7-85B7-5D28-6EA4A1EE4BE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77821" y="906835"/>
            <a:ext cx="6062636" cy="681038"/>
          </a:xfrm>
        </p:spPr>
        <p:txBody>
          <a:bodyPr anchor="b">
            <a:normAutofit/>
          </a:bodyPr>
          <a:lstStyle>
            <a:lvl1pPr algn="l">
              <a:defRPr sz="4000" b="0" i="1">
                <a:solidFill>
                  <a:schemeClr val="bg1"/>
                </a:solidFill>
                <a:latin typeface="Aptos Serif" panose="02020604070405020304" pitchFamily="18" charset="0"/>
                <a:cs typeface="Aptos Serif" panose="02020604070405020304" pitchFamily="18" charset="0"/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6" name="Undertitel 2">
            <a:extLst>
              <a:ext uri="{FF2B5EF4-FFF2-40B4-BE49-F238E27FC236}">
                <a16:creationId xmlns:a16="http://schemas.microsoft.com/office/drawing/2014/main" id="{1E50DD4C-B05A-9D9C-1298-100FEAD63F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77821" y="1725559"/>
            <a:ext cx="6062636" cy="4210783"/>
          </a:xfr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 dirty="0"/>
              <a:t>Brødtekst</a:t>
            </a:r>
          </a:p>
        </p:txBody>
      </p:sp>
      <p:pic>
        <p:nvPicPr>
          <p:cNvPr id="3" name="Billede 2">
            <a:extLst>
              <a:ext uri="{FF2B5EF4-FFF2-40B4-BE49-F238E27FC236}">
                <a16:creationId xmlns:a16="http://schemas.microsoft.com/office/drawing/2014/main" id="{E40976EB-B007-D8E8-0F64-4A816184A5E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36667" t="10621" r="27736" b="25037"/>
          <a:stretch>
            <a:fillRect/>
          </a:stretch>
        </p:blipFill>
        <p:spPr>
          <a:xfrm>
            <a:off x="0" y="0"/>
            <a:ext cx="5060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31203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4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ktangel 8">
            <a:extLst>
              <a:ext uri="{FF2B5EF4-FFF2-40B4-BE49-F238E27FC236}">
                <a16:creationId xmlns:a16="http://schemas.microsoft.com/office/drawing/2014/main" id="{B35025B1-7DAA-BEC3-023B-53B064E4F8A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8A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B14D965-0696-3E04-298B-AB996A465F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20CCBED-4346-6E83-8D04-9B77998A18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11879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a-DK" dirty="0"/>
              <a:t>Klik for at redigere teksttypografierne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00B0B2D9-5DBC-8F64-6D8F-FD17492D3A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11879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a-DK" dirty="0"/>
              <a:t>Klik for at redigere teksttypografierne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136BA7A-2D33-F09A-D91B-920433AF79F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004301" y="5944421"/>
            <a:ext cx="3168648" cy="894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09723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5" Type="http://schemas.openxmlformats.org/officeDocument/2006/relationships/slideLayout" Target="../slideLayouts/slideLayout15.xml"/><Relationship Id="rId20" Type="http://schemas.openxmlformats.org/officeDocument/2006/relationships/slideLayout" Target="../slideLayouts/slideLayout20.xml"/><Relationship Id="rId25" Type="http://schemas.openxmlformats.org/officeDocument/2006/relationships/slideLayout" Target="../slideLayouts/slideLayout25.xml"/><Relationship Id="rId4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59D3788E-DF04-3F25-B2F2-39916224C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 dirty="0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ACF4F2E5-1019-2F72-C943-C22FA2B47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 dirty="0"/>
              <a:t>Klik for at redigere teksttypografierne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AF8E03F2-3148-CD75-07C7-E5DBEE1545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EEAAF4-5C60-4648-853A-0F85F719702F}" type="datetimeFigureOut">
              <a:rPr lang="da-DK" smtClean="0"/>
              <a:t>30.06.2025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EB68D781-B182-ABF7-8F19-FC6B0637C9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972B3DFC-B36F-3A09-8CE8-7EA169EA3A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7CFCBD-0BB6-4C4B-8C52-DD65F470F13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14734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5"/>
    <p:sldLayoutId id="2147483673" r:id="rId20"/>
    <p:sldLayoutId id="2147483682" r:id="rId2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1" kern="1200">
          <a:solidFill>
            <a:srgbClr val="333333"/>
          </a:solidFill>
          <a:latin typeface="Aptos Serif" panose="02020604070405020304" pitchFamily="18" charset="0"/>
          <a:ea typeface="+mj-ea"/>
          <a:cs typeface="Aptos Serif" panose="0202060407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rgbClr val="333333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333333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333333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33333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33333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hyperlink" Target="https://www.postgresql.org/docs/current/tutorial.html" TargetMode="External"/><Relationship Id="rId3" Type="http://schemas.openxmlformats.org/officeDocument/2006/relationships/hyperlink" Target="https://www.postgresql.org/docs/current/sql-createtable.html" TargetMode="External"/><Relationship Id="rId4" Type="http://schemas.openxmlformats.org/officeDocument/2006/relationships/hyperlink" Target="https://www.postgresql.org/docs/current/ddl-constraints.html" TargetMode="External"/><Relationship Id="rId5" Type="http://schemas.openxmlformats.org/officeDocument/2006/relationships/hyperlink" Target="https://www.postgresql.org/docs/current/ddl-identity-columns.html" TargetMode="External"/><Relationship Id="rId6" Type="http://schemas.openxmlformats.org/officeDocument/2006/relationships/hyperlink" Target="https://www.postgresql.org/docs/current/dml.html" TargetMode="External"/><Relationship Id="rId7" Type="http://schemas.openxmlformats.org/officeDocument/2006/relationships/hyperlink" Target="https://www.w3schools.com/sql/" TargetMode="External"/><Relationship Id="rId8" Type="http://schemas.openxmlformats.org/officeDocument/2006/relationships/hyperlink" Target="https://www.psycopg.org/psycopg3/docs/basic/tstrings.html" TargetMode="External"/><Relationship Id="rId9" Type="http://schemas.openxmlformats.org/officeDocument/2006/relationships/hyperlink" Target="https://www.psycopg.org/psycopg3/docs/basic/params.html" TargetMode="External"/><Relationship Id="rId10" Type="http://schemas.openxmlformats.org/officeDocument/2006/relationships/hyperlink" Target="https://www.psycopg.org/psycopg3/docs/basic/usage.html" TargetMode="External"/><Relationship Id="rId11" Type="http://schemas.openxmlformats.org/officeDocument/2006/relationships/hyperlink" Target="https://www.psycopg.org/psycopg3/docs/basic/transactions.html" TargetMode="External"/><Relationship Id="rId12" Type="http://schemas.openxmlformats.org/officeDocument/2006/relationships/hyperlink" Target="https://peps.python.org/pep-0750/" TargetMode="External"/><Relationship Id="rId13" Type="http://schemas.openxmlformats.org/officeDocument/2006/relationships/hyperlink" Target="https://owasp.org/www-community/attacks/SQL_Injection" TargetMode="External"/><Relationship Id="rId14" Type="http://schemas.openxmlformats.org/officeDocument/2006/relationships/hyperlink" Target="https://www.pgadmin.org/docs/pgadmin4/latest/erd_tool.html" TargetMode="External"/><Relationship Id="rId15" Type="http://schemas.openxmlformats.org/officeDocument/2006/relationships/hyperlink" Target="https://www.lucidchart.com/pages/er-diagrams" TargetMode="External"/><Relationship Id="rId16" Type="http://schemas.openxmlformats.org/officeDocument/2006/relationships/hyperlink" Target="https://mermaid.js.org/syntax/entityRelationshipDiagram.html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08320" y="1158240"/>
            <a:ext cx="6095999" cy="1828800"/>
          </a:xfrm>
        </p:spPr>
        <p:txBody>
          <a:bodyPr wrap="square" anchor="b" lIns="0" rIns="0" tIns="0" bIns="0"/>
          <a:lstStyle/>
          <a:p>
            <a:r>
              <a:rPr sz="4266"/>
              <a:t>Database design og CRUD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08320" y="3169920"/>
            <a:ext cx="6095999" cy="1219200"/>
          </a:xfrm>
        </p:spPr>
        <p:txBody>
          <a:bodyPr wrap="square" anchor="t" lIns="0" rIns="0" tIns="0" bIns="0"/>
          <a:lstStyle/>
          <a:p>
            <a:r>
              <a:rPr sz="2133"/>
              <a:t>Fra patient.yml til PostgreSQL med psycopg 3 og t-strings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8320" y="670560"/>
            <a:ext cx="6095999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Lektion 5 · Del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08320" y="4572000"/>
            <a:ext cx="286512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08320" y="4572000"/>
            <a:ext cx="2865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33" b="1" i="0">
                <a:solidFill>
                  <a:srgbClr val="0038A8"/>
                </a:solidFill>
                <a:latin typeface="Calibri"/>
              </a:rPr>
              <a:t>ER diagram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8656319" y="4572000"/>
            <a:ext cx="286512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6319" y="4572000"/>
            <a:ext cx="2865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33" b="1" i="0">
                <a:solidFill>
                  <a:srgbClr val="0038A8"/>
                </a:solidFill>
                <a:latin typeface="Calibri"/>
              </a:rPr>
              <a:t>CREATE 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5608320" y="5242559"/>
            <a:ext cx="286512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08320" y="5242559"/>
            <a:ext cx="2865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33" b="1" i="0">
                <a:solidFill>
                  <a:srgbClr val="0038A8"/>
                </a:solidFill>
                <a:latin typeface="Calibri"/>
              </a:rPr>
              <a:t>CRUD + t-strings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56319" y="5242559"/>
            <a:ext cx="286512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56319" y="5242559"/>
            <a:ext cx="2865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33" b="1" i="0">
                <a:solidFill>
                  <a:srgbClr val="0038A8"/>
                </a:solidFill>
                <a:latin typeface="Calibri"/>
              </a:rPr>
              <a:t>executemany()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Planen for del 1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FFFFFF"/>
                </a:solidFill>
                <a:latin typeface="Calibri"/>
              </a:rPr>
              <a:t>Trin 1–3 hjemme, trin 4–7 i undervisningen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828800"/>
            <a:ext cx="5242559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F8A93"/>
                </a:solidFill>
                <a:latin typeface="Aptos Serif"/>
              </a:rPr>
              <a:t>Hjemme</a:t>
            </a:r>
          </a:p>
        </p:txBody>
      </p:sp>
      <p:sp>
        <p:nvSpPr>
          <p:cNvPr id="6" name="Oval 5"/>
          <p:cNvSpPr/>
          <p:nvPr/>
        </p:nvSpPr>
        <p:spPr>
          <a:xfrm>
            <a:off x="609600" y="2438400"/>
            <a:ext cx="512063" cy="512063"/>
          </a:xfrm>
          <a:prstGeom prst="ellipse">
            <a:avLst/>
          </a:prstGeom>
          <a:solidFill>
            <a:srgbClr val="1F8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2438400"/>
            <a:ext cx="512063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1120" y="2438400"/>
            <a:ext cx="4632960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0">
                <a:solidFill>
                  <a:srgbClr val="333333"/>
                </a:solidFill>
                <a:latin typeface="Calibri"/>
              </a:rPr>
              <a:t>Installér PostgreSQL + pgAdmin, opret sundhedsapp</a:t>
            </a:r>
          </a:p>
        </p:txBody>
      </p:sp>
      <p:sp>
        <p:nvSpPr>
          <p:cNvPr id="9" name="Oval 8"/>
          <p:cNvSpPr/>
          <p:nvPr/>
        </p:nvSpPr>
        <p:spPr>
          <a:xfrm>
            <a:off x="609600" y="3169920"/>
            <a:ext cx="512063" cy="512063"/>
          </a:xfrm>
          <a:prstGeom prst="ellipse">
            <a:avLst/>
          </a:prstGeom>
          <a:solidFill>
            <a:srgbClr val="1F8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3169920"/>
            <a:ext cx="512063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1120" y="3169920"/>
            <a:ext cx="4632960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0">
                <a:solidFill>
                  <a:srgbClr val="333333"/>
                </a:solidFill>
                <a:latin typeface="Calibri"/>
              </a:rPr>
              <a:t>Læs theory.md og er_design_guide.md</a:t>
            </a:r>
          </a:p>
        </p:txBody>
      </p:sp>
      <p:sp>
        <p:nvSpPr>
          <p:cNvPr id="12" name="Oval 11"/>
          <p:cNvSpPr/>
          <p:nvPr/>
        </p:nvSpPr>
        <p:spPr>
          <a:xfrm>
            <a:off x="609600" y="3901440"/>
            <a:ext cx="512063" cy="512063"/>
          </a:xfrm>
          <a:prstGeom prst="ellipse">
            <a:avLst/>
          </a:prstGeom>
          <a:solidFill>
            <a:srgbClr val="1F8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600" y="3901440"/>
            <a:ext cx="512063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1120" y="3901440"/>
            <a:ext cx="4632960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0">
                <a:solidFill>
                  <a:srgbClr val="333333"/>
                </a:solidFill>
                <a:latin typeface="Calibri"/>
              </a:rPr>
              <a:t>Design ER diagrammet</a:t>
            </a:r>
          </a:p>
        </p:txBody>
      </p:sp>
      <p:sp>
        <p:nvSpPr>
          <p:cNvPr id="15" name="Oval 14"/>
          <p:cNvSpPr/>
          <p:nvPr/>
        </p:nvSpPr>
        <p:spPr>
          <a:xfrm>
            <a:off x="609600" y="4632960"/>
            <a:ext cx="512063" cy="512063"/>
          </a:xfrm>
          <a:prstGeom prst="ellipse">
            <a:avLst/>
          </a:prstGeom>
          <a:solidFill>
            <a:srgbClr val="1F8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600" y="4632960"/>
            <a:ext cx="512063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41120" y="4632960"/>
            <a:ext cx="4632960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0">
                <a:solidFill>
                  <a:srgbClr val="333333"/>
                </a:solidFill>
                <a:latin typeface="Calibri"/>
              </a:rPr>
              <a:t>CREATE TABLE i pgAdmin</a:t>
            </a:r>
          </a:p>
        </p:txBody>
      </p:sp>
      <p:sp>
        <p:nvSpPr>
          <p:cNvPr id="18" name="Oval 17"/>
          <p:cNvSpPr/>
          <p:nvPr/>
        </p:nvSpPr>
        <p:spPr>
          <a:xfrm>
            <a:off x="609600" y="5364480"/>
            <a:ext cx="512063" cy="512063"/>
          </a:xfrm>
          <a:prstGeom prst="ellipse">
            <a:avLst/>
          </a:prstGeom>
          <a:solidFill>
            <a:srgbClr val="1F8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600" y="5364480"/>
            <a:ext cx="512063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1120" y="5364480"/>
            <a:ext cx="4632960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0">
                <a:solidFill>
                  <a:srgbClr val="333333"/>
                </a:solidFill>
                <a:latin typeface="Calibri"/>
              </a:rPr>
              <a:t>Forbind fra Python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19" y="1828800"/>
            <a:ext cx="5242559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FE4C61"/>
                </a:solidFill>
                <a:latin typeface="Aptos Serif"/>
              </a:rPr>
              <a:t>I undervisningen</a:t>
            </a:r>
          </a:p>
        </p:txBody>
      </p:sp>
      <p:sp>
        <p:nvSpPr>
          <p:cNvPr id="22" name="Oval 21"/>
          <p:cNvSpPr/>
          <p:nvPr/>
        </p:nvSpPr>
        <p:spPr>
          <a:xfrm>
            <a:off x="6217919" y="2438400"/>
            <a:ext cx="512063" cy="512063"/>
          </a:xfrm>
          <a:prstGeom prst="ellipse">
            <a:avLst/>
          </a:prstGeom>
          <a:solidFill>
            <a:srgbClr val="FE4C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19" y="2438400"/>
            <a:ext cx="512063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39" y="2438400"/>
            <a:ext cx="4632960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0">
                <a:solidFill>
                  <a:srgbClr val="333333"/>
                </a:solidFill>
                <a:latin typeface="Calibri"/>
              </a:rPr>
              <a:t>Create + read med t-strings</a:t>
            </a:r>
          </a:p>
        </p:txBody>
      </p:sp>
      <p:sp>
        <p:nvSpPr>
          <p:cNvPr id="25" name="Oval 24"/>
          <p:cNvSpPr/>
          <p:nvPr/>
        </p:nvSpPr>
        <p:spPr>
          <a:xfrm>
            <a:off x="6217919" y="3169920"/>
            <a:ext cx="512063" cy="512063"/>
          </a:xfrm>
          <a:prstGeom prst="ellipse">
            <a:avLst/>
          </a:prstGeom>
          <a:solidFill>
            <a:srgbClr val="FE4C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19" y="3169920"/>
            <a:ext cx="512063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39" y="3169920"/>
            <a:ext cx="4632960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0">
                <a:solidFill>
                  <a:srgbClr val="333333"/>
                </a:solidFill>
                <a:latin typeface="Calibri"/>
              </a:rPr>
              <a:t>Update + delete</a:t>
            </a:r>
          </a:p>
        </p:txBody>
      </p:sp>
      <p:sp>
        <p:nvSpPr>
          <p:cNvPr id="28" name="Oval 27"/>
          <p:cNvSpPr/>
          <p:nvPr/>
        </p:nvSpPr>
        <p:spPr>
          <a:xfrm>
            <a:off x="6217919" y="3901440"/>
            <a:ext cx="512063" cy="512063"/>
          </a:xfrm>
          <a:prstGeom prst="ellipse">
            <a:avLst/>
          </a:prstGeom>
          <a:solidFill>
            <a:srgbClr val="FE4C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19" y="3901440"/>
            <a:ext cx="512063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39" y="3901440"/>
            <a:ext cx="4632960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0">
                <a:solidFill>
                  <a:srgbClr val="333333"/>
                </a:solidFill>
                <a:latin typeface="Calibri"/>
              </a:rPr>
              <a:t>Lad databasen sige nej (CHECK)</a:t>
            </a:r>
          </a:p>
        </p:txBody>
      </p:sp>
      <p:sp>
        <p:nvSpPr>
          <p:cNvPr id="31" name="Oval 30"/>
          <p:cNvSpPr/>
          <p:nvPr/>
        </p:nvSpPr>
        <p:spPr>
          <a:xfrm>
            <a:off x="6217919" y="4632960"/>
            <a:ext cx="512063" cy="512063"/>
          </a:xfrm>
          <a:prstGeom prst="ellipse">
            <a:avLst/>
          </a:prstGeom>
          <a:solidFill>
            <a:srgbClr val="FE4C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19" y="4632960"/>
            <a:ext cx="512063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39" y="4632960"/>
            <a:ext cx="4632960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0">
                <a:solidFill>
                  <a:srgbClr val="333333"/>
                </a:solidFill>
                <a:latin typeface="Calibri"/>
              </a:rPr>
              <a:t>API → executemany()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Hvorfor forlade patient.yml?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FFFFFF"/>
                </a:solidFill>
                <a:latin typeface="Calibri"/>
              </a:rPr>
              <a:t>Lektion 4: læs hele filen, ændr en dict, skriv hele filen tilbage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2011679"/>
            <a:ext cx="3474720" cy="2865120"/>
          </a:xfrm>
          <a:prstGeom prst="rect">
            <a:avLst/>
          </a:prstGeom>
          <a:solidFill>
            <a:srgbClr val="E3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316480"/>
            <a:ext cx="548640" cy="548640"/>
          </a:xfrm>
          <a:prstGeom prst="ellipse">
            <a:avLst/>
          </a:prstGeom>
          <a:solidFill>
            <a:srgbClr val="FE4C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164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47999"/>
            <a:ext cx="2926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60" b="1" i="0">
                <a:solidFill>
                  <a:srgbClr val="0038A8"/>
                </a:solidFill>
                <a:latin typeface="Aptos Serif"/>
              </a:rPr>
              <a:t>To skrivere samtidig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96640"/>
            <a:ext cx="2926079" cy="1158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0">
                <a:solidFill>
                  <a:srgbClr val="333333"/>
                </a:solidFill>
                <a:latin typeface="Calibri"/>
              </a:rPr>
              <a:t>To requests gemmer i samme øjeblik, så én ændring går tabt.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8159" y="2011679"/>
            <a:ext cx="3474720" cy="2865120"/>
          </a:xfrm>
          <a:prstGeom prst="rect">
            <a:avLst/>
          </a:prstGeom>
          <a:solidFill>
            <a:srgbClr val="E3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32960" y="2316480"/>
            <a:ext cx="548640" cy="548640"/>
          </a:xfrm>
          <a:prstGeom prst="ellipse">
            <a:avLst/>
          </a:prstGeom>
          <a:solidFill>
            <a:srgbClr val="FE4C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2960" y="23164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2960" y="3047999"/>
            <a:ext cx="2926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60" b="1" i="0">
                <a:solidFill>
                  <a:srgbClr val="0038A8"/>
                </a:solidFill>
                <a:latin typeface="Aptos Serif"/>
              </a:rPr>
              <a:t>Ingen regler for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2960" y="3596640"/>
            <a:ext cx="2926079" cy="1158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0">
                <a:solidFill>
                  <a:srgbClr val="333333"/>
                </a:solidFill>
                <a:latin typeface="Calibri"/>
              </a:rPr>
              <a:t>allergies: false, 'No' og Peanuts accepteres alle, og det gør age: -5 også.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19" y="2011679"/>
            <a:ext cx="3474720" cy="2865120"/>
          </a:xfrm>
          <a:prstGeom prst="rect">
            <a:avLst/>
          </a:prstGeom>
          <a:solidFill>
            <a:srgbClr val="E3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51520" y="2316480"/>
            <a:ext cx="548640" cy="548640"/>
          </a:xfrm>
          <a:prstGeom prst="ellipse">
            <a:avLst/>
          </a:prstGeom>
          <a:solidFill>
            <a:srgbClr val="FE4C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1520" y="23164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1520" y="3047999"/>
            <a:ext cx="2926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60" b="1" i="0">
                <a:solidFill>
                  <a:srgbClr val="0038A8"/>
                </a:solidFill>
                <a:latin typeface="Aptos Serif"/>
              </a:rPr>
              <a:t>Det skalerer ikke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1520" y="3596640"/>
            <a:ext cx="2926079" cy="1158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0">
                <a:solidFill>
                  <a:srgbClr val="333333"/>
                </a:solidFill>
                <a:latin typeface="Calibri"/>
              </a:rPr>
              <a:t>For at finde én patient skal du læse alle patienter.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5364480"/>
            <a:ext cx="109728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66" b="1" i="0">
                <a:solidFill>
                  <a:srgbClr val="1F8A93"/>
                </a:solidFill>
                <a:latin typeface="Calibri"/>
              </a:rPr>
              <a:t>PostgreSQL håndterer mange brugere, håndhæver regler og finder rækker hurtigt.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Tabeller, rækker og kolonner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FFFFFF"/>
                </a:solidFill>
                <a:latin typeface="Calibri"/>
              </a:rPr>
              <a:t>Én tabel = én slags ting. Én række = én patient.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600" y="1950720"/>
          <a:ext cx="10972797" cy="2048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767839"/>
                <a:gridCol w="1889759"/>
                <a:gridCol w="1158240"/>
                <a:gridCol w="1706879"/>
                <a:gridCol w="2804160"/>
              </a:tblGrid>
              <a:tr h="512063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ourier New"/>
                        </a:rPr>
                        <a:t>patient_id</a:t>
                      </a:r>
                    </a:p>
                  </a:txBody>
                  <a:tcPr marL="73151" marR="73151" anchor="ctr">
                    <a:solidFill>
                      <a:srgbClr val="FE4C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ourier New"/>
                        </a:rPr>
                        <a:t>first_name</a:t>
                      </a:r>
                    </a:p>
                  </a:txBody>
                  <a:tcPr marL="73151" marR="73151" anchor="ctr">
                    <a:solidFill>
                      <a:srgbClr val="0038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ourier New"/>
                        </a:rPr>
                        <a:t>last_name</a:t>
                      </a:r>
                    </a:p>
                  </a:txBody>
                  <a:tcPr marL="73151" marR="73151" anchor="ctr">
                    <a:solidFill>
                      <a:srgbClr val="0038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ourier New"/>
                        </a:rPr>
                        <a:t>age</a:t>
                      </a:r>
                    </a:p>
                  </a:txBody>
                  <a:tcPr marL="73151" marR="73151" anchor="ctr">
                    <a:solidFill>
                      <a:srgbClr val="0038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ourier New"/>
                        </a:rPr>
                        <a:t>blood_type</a:t>
                      </a:r>
                    </a:p>
                  </a:txBody>
                  <a:tcPr marL="73151" marR="73151" anchor="ctr">
                    <a:solidFill>
                      <a:srgbClr val="0038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ourier New"/>
                        </a:rPr>
                        <a:t>allergies</a:t>
                      </a:r>
                    </a:p>
                  </a:txBody>
                  <a:tcPr marL="73151" marR="73151" anchor="ctr">
                    <a:solidFill>
                      <a:srgbClr val="0038A8"/>
                    </a:solidFill>
                  </a:tcPr>
                </a:tc>
              </a:tr>
              <a:tr h="512063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333333"/>
                          </a:solidFill>
                          <a:latin typeface="Courier New"/>
                        </a:rPr>
                        <a:t>1</a:t>
                      </a:r>
                    </a:p>
                  </a:txBody>
                  <a:tcPr marL="73151" marR="73151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333333"/>
                          </a:solidFill>
                          <a:latin typeface="Courier New"/>
                        </a:rPr>
                        <a:t>Kevin</a:t>
                      </a:r>
                    </a:p>
                  </a:txBody>
                  <a:tcPr marL="73151" marR="73151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333333"/>
                          </a:solidFill>
                          <a:latin typeface="Courier New"/>
                        </a:rPr>
                        <a:t>Holm</a:t>
                      </a:r>
                    </a:p>
                  </a:txBody>
                  <a:tcPr marL="73151" marR="73151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333333"/>
                          </a:solidFill>
                          <a:latin typeface="Courier New"/>
                        </a:rPr>
                        <a:t>34</a:t>
                      </a:r>
                    </a:p>
                  </a:txBody>
                  <a:tcPr marL="73151" marR="73151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333333"/>
                          </a:solidFill>
                          <a:latin typeface="Courier New"/>
                        </a:rPr>
                        <a:t>O+</a:t>
                      </a:r>
                    </a:p>
                  </a:txBody>
                  <a:tcPr marL="73151" marR="73151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1">
                          <a:solidFill>
                            <a:srgbClr val="5F6B73"/>
                          </a:solidFill>
                          <a:latin typeface="Courier New"/>
                        </a:rPr>
                        <a:t>NULL</a:t>
                      </a:r>
                    </a:p>
                  </a:txBody>
                  <a:tcPr marL="73151" marR="73151" anchor="ctr">
                    <a:solidFill>
                      <a:srgbClr val="FFFFFF"/>
                    </a:solidFill>
                  </a:tcPr>
                </a:tc>
              </a:tr>
              <a:tr h="512063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333333"/>
                          </a:solidFill>
                          <a:latin typeface="Courier New"/>
                        </a:rPr>
                        <a:t>2</a:t>
                      </a:r>
                    </a:p>
                  </a:txBody>
                  <a:tcPr marL="73151" marR="73151" anchor="ctr">
                    <a:solidFill>
                      <a:srgbClr val="E3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333333"/>
                          </a:solidFill>
                          <a:latin typeface="Courier New"/>
                        </a:rPr>
                        <a:t>Lone</a:t>
                      </a:r>
                    </a:p>
                  </a:txBody>
                  <a:tcPr marL="73151" marR="73151" anchor="ctr">
                    <a:solidFill>
                      <a:srgbClr val="E3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333333"/>
                          </a:solidFill>
                          <a:latin typeface="Courier New"/>
                        </a:rPr>
                        <a:t>Kellerman</a:t>
                      </a:r>
                    </a:p>
                  </a:txBody>
                  <a:tcPr marL="73151" marR="73151" anchor="ctr">
                    <a:solidFill>
                      <a:srgbClr val="E3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333333"/>
                          </a:solidFill>
                          <a:latin typeface="Courier New"/>
                        </a:rPr>
                        <a:t>66</a:t>
                      </a:r>
                    </a:p>
                  </a:txBody>
                  <a:tcPr marL="73151" marR="73151" anchor="ctr">
                    <a:solidFill>
                      <a:srgbClr val="E3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333333"/>
                          </a:solidFill>
                          <a:latin typeface="Courier New"/>
                        </a:rPr>
                        <a:t>A+</a:t>
                      </a:r>
                    </a:p>
                  </a:txBody>
                  <a:tcPr marL="73151" marR="73151" anchor="ctr">
                    <a:solidFill>
                      <a:srgbClr val="E3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333333"/>
                          </a:solidFill>
                          <a:latin typeface="Courier New"/>
                        </a:rPr>
                        <a:t>Peanuts</a:t>
                      </a:r>
                    </a:p>
                  </a:txBody>
                  <a:tcPr marL="73151" marR="73151" anchor="ctr">
                    <a:solidFill>
                      <a:srgbClr val="E3EAF7"/>
                    </a:solidFill>
                  </a:tcPr>
                </a:tc>
              </a:tr>
              <a:tr h="512063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333333"/>
                          </a:solidFill>
                          <a:latin typeface="Courier New"/>
                        </a:rPr>
                        <a:t>3</a:t>
                      </a:r>
                    </a:p>
                  </a:txBody>
                  <a:tcPr marL="73151" marR="73151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333333"/>
                          </a:solidFill>
                          <a:latin typeface="Courier New"/>
                        </a:rPr>
                        <a:t>Lars</a:t>
                      </a:r>
                    </a:p>
                  </a:txBody>
                  <a:tcPr marL="73151" marR="73151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333333"/>
                          </a:solidFill>
                          <a:latin typeface="Courier New"/>
                        </a:rPr>
                        <a:t>Larsson</a:t>
                      </a:r>
                    </a:p>
                  </a:txBody>
                  <a:tcPr marL="73151" marR="73151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333333"/>
                          </a:solidFill>
                          <a:latin typeface="Courier New"/>
                        </a:rPr>
                        <a:t>27</a:t>
                      </a:r>
                    </a:p>
                  </a:txBody>
                  <a:tcPr marL="73151" marR="73151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333333"/>
                          </a:solidFill>
                          <a:latin typeface="Courier New"/>
                        </a:rPr>
                        <a:t>B-</a:t>
                      </a:r>
                    </a:p>
                  </a:txBody>
                  <a:tcPr marL="73151" marR="73151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333333"/>
                          </a:solidFill>
                          <a:latin typeface="Courier New"/>
                        </a:rPr>
                        <a:t>Strawberry</a:t>
                      </a:r>
                    </a:p>
                  </a:txBody>
                  <a:tcPr marL="73151" marR="73151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Oval 5"/>
          <p:cNvSpPr/>
          <p:nvPr/>
        </p:nvSpPr>
        <p:spPr>
          <a:xfrm>
            <a:off x="609600" y="4389120"/>
            <a:ext cx="341376" cy="341376"/>
          </a:xfrm>
          <a:prstGeom prst="ellipse">
            <a:avLst/>
          </a:prstGeom>
          <a:solidFill>
            <a:srgbClr val="FE4C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303775"/>
            <a:ext cx="3047999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20" b="1" i="0">
                <a:solidFill>
                  <a:srgbClr val="0038A8"/>
                </a:solidFill>
                <a:latin typeface="Aptos Serif"/>
              </a:rPr>
              <a:t>Primary key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815840"/>
            <a:ext cx="3047999" cy="975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0" i="0">
                <a:solidFill>
                  <a:srgbClr val="333333"/>
                </a:solidFill>
                <a:latin typeface="Calibri"/>
              </a:rPr>
              <a:t>Unikt id for én række. Genereres af databasen.</a:t>
            </a:r>
          </a:p>
        </p:txBody>
      </p:sp>
      <p:sp>
        <p:nvSpPr>
          <p:cNvPr id="9" name="Oval 8"/>
          <p:cNvSpPr/>
          <p:nvPr/>
        </p:nvSpPr>
        <p:spPr>
          <a:xfrm>
            <a:off x="4328159" y="4389120"/>
            <a:ext cx="341376" cy="341376"/>
          </a:xfrm>
          <a:prstGeom prst="ellipse">
            <a:avLst/>
          </a:prstGeom>
          <a:solidFill>
            <a:srgbClr val="003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15839" y="4303775"/>
            <a:ext cx="3047999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20" b="1" i="0">
                <a:solidFill>
                  <a:srgbClr val="0038A8"/>
                </a:solidFill>
                <a:latin typeface="Aptos Serif"/>
              </a:rPr>
              <a:t>Kolonne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5839" y="4815840"/>
            <a:ext cx="3047999" cy="975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0" i="0">
                <a:solidFill>
                  <a:srgbClr val="333333"/>
                </a:solidFill>
                <a:latin typeface="Calibri"/>
              </a:rPr>
              <a:t>Har et navn og en data type: INTEGER eller TEXT.</a:t>
            </a:r>
          </a:p>
        </p:txBody>
      </p:sp>
      <p:sp>
        <p:nvSpPr>
          <p:cNvPr id="12" name="Oval 11"/>
          <p:cNvSpPr/>
          <p:nvPr/>
        </p:nvSpPr>
        <p:spPr>
          <a:xfrm>
            <a:off x="8046719" y="4389120"/>
            <a:ext cx="341376" cy="341376"/>
          </a:xfrm>
          <a:prstGeom prst="ellipse">
            <a:avLst/>
          </a:prstGeom>
          <a:solidFill>
            <a:srgbClr val="1F8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34399" y="4303775"/>
            <a:ext cx="3047999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20" b="1" i="0">
                <a:solidFill>
                  <a:srgbClr val="0038A8"/>
                </a:solidFill>
                <a:latin typeface="Aptos Serif"/>
              </a:rPr>
              <a:t>Række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4399" y="4815840"/>
            <a:ext cx="3047999" cy="975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0" i="0">
                <a:solidFill>
                  <a:srgbClr val="333333"/>
                </a:solidFill>
                <a:latin typeface="Calibri"/>
              </a:rPr>
              <a:t>Én patient. Fremhævet: Lone.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19" y="2499359"/>
            <a:ext cx="10728960" cy="1097280"/>
          </a:xfrm>
        </p:spPr>
        <p:txBody>
          <a:bodyPr wrap="square" anchor="b" lIns="0" rIns="0" tIns="0" bIns="0"/>
          <a:lstStyle/>
          <a:p>
            <a:r>
              <a:rPr sz="4800"/>
              <a:t>Design af databasen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19" y="3718560"/>
            <a:ext cx="10728960" cy="731519"/>
          </a:xfrm>
        </p:spPr>
        <p:txBody>
          <a:bodyPr wrap="square" anchor="t" lIns="0" rIns="0" tIns="0" bIns="0"/>
          <a:lstStyle/>
          <a:p>
            <a:r>
              <a:rPr sz="2400"/>
              <a:t>ER diagram → CREATE TABLE (trin 1–2)</a:t>
            </a:r>
          </a:p>
        </p:txBody>
      </p:sp>
      <p:sp>
        <p:nvSpPr>
          <p:cNvPr id="4" name="Oval 3"/>
          <p:cNvSpPr/>
          <p:nvPr/>
        </p:nvSpPr>
        <p:spPr>
          <a:xfrm>
            <a:off x="731519" y="1463039"/>
            <a:ext cx="853439" cy="853439"/>
          </a:xfrm>
          <a:prstGeom prst="ellipse">
            <a:avLst/>
          </a:prstGeom>
          <a:solidFill>
            <a:srgbClr val="FE4C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1463039"/>
            <a:ext cx="853439" cy="8534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ER diagram: byggestenene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FFFFFF"/>
                </a:solidFill>
                <a:latin typeface="Calibri"/>
              </a:rPr>
              <a:t>Tegn data, før du bygger dem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828800"/>
            <a:ext cx="1950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038A8"/>
                </a:solidFill>
                <a:latin typeface="Aptos Serif"/>
              </a:rPr>
              <a:t>Entity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82880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0" i="0">
                <a:solidFill>
                  <a:srgbClr val="333333"/>
                </a:solidFill>
                <a:latin typeface="Calibri"/>
              </a:rPr>
              <a:t>en ting → en tabel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828800"/>
            <a:ext cx="170687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1F8A93"/>
                </a:solidFill>
                <a:latin typeface="Courier New"/>
              </a:rPr>
              <a:t>patient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499359"/>
            <a:ext cx="1950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038A8"/>
                </a:solidFill>
                <a:latin typeface="Aptos Serif"/>
              </a:rPr>
              <a:t>Attribute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499359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0" i="0">
                <a:solidFill>
                  <a:srgbClr val="333333"/>
                </a:solidFill>
                <a:latin typeface="Calibri"/>
              </a:rPr>
              <a:t>en oplysning → en kolonne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2499359"/>
            <a:ext cx="170687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1F8A93"/>
                </a:solidFill>
                <a:latin typeface="Courier New"/>
              </a:rPr>
              <a:t>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169920"/>
            <a:ext cx="1950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038A8"/>
                </a:solidFill>
                <a:latin typeface="Aptos Serif"/>
              </a:rPr>
              <a:t>Primary key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16992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0" i="0">
                <a:solidFill>
                  <a:srgbClr val="333333"/>
                </a:solidFill>
                <a:latin typeface="Calibri"/>
              </a:rPr>
              <a:t>identificerer én række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3169920"/>
            <a:ext cx="170687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1F8A93"/>
                </a:solidFill>
                <a:latin typeface="Courier New"/>
              </a:rPr>
              <a:t>patient_id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3840480"/>
            <a:ext cx="1950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038A8"/>
                </a:solidFill>
                <a:latin typeface="Aptos Serif"/>
              </a:rPr>
              <a:t>Foreign key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84048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0" i="0">
                <a:solidFill>
                  <a:srgbClr val="333333"/>
                </a:solidFill>
                <a:latin typeface="Calibri"/>
              </a:rPr>
              <a:t>peger på en anden PK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3840480"/>
            <a:ext cx="170687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1F8A93"/>
                </a:solidFill>
                <a:latin typeface="Courier New"/>
              </a:rPr>
              <a:t>hospital_id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4511040"/>
            <a:ext cx="1950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038A8"/>
                </a:solidFill>
                <a:latin typeface="Aptos Serif"/>
              </a:rPr>
              <a:t>Relationship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451104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0" i="0">
                <a:solidFill>
                  <a:srgbClr val="333333"/>
                </a:solidFill>
                <a:latin typeface="Calibri"/>
              </a:rPr>
              <a:t>hvordan entities hænger sammen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4511040"/>
            <a:ext cx="170687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1F8A93"/>
                </a:solidFill>
                <a:latin typeface="Courier New"/>
              </a:rPr>
              <a:t>arbejder på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5181599"/>
            <a:ext cx="1950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038A8"/>
                </a:solidFill>
                <a:latin typeface="Aptos Serif"/>
              </a:rPr>
              <a:t>Cardinality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5181599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0" i="0">
                <a:solidFill>
                  <a:srgbClr val="333333"/>
                </a:solidFill>
                <a:latin typeface="Calibri"/>
              </a:rPr>
              <a:t>hvor mange på hver side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5181599"/>
            <a:ext cx="170687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1F8A93"/>
                </a:solidFill>
                <a:latin typeface="Courier New"/>
              </a:rPr>
              <a:t>1 : mange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1828800"/>
            <a:ext cx="4267199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038A8"/>
                </a:solidFill>
                <a:latin typeface="Aptos Serif"/>
              </a:rPr>
              <a:t>Crow's foot notation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0" y="2438400"/>
            <a:ext cx="1402080" cy="609600"/>
          </a:xfrm>
          <a:prstGeom prst="rect">
            <a:avLst/>
          </a:prstGeom>
          <a:solidFill>
            <a:srgbClr val="003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0" y="2438400"/>
            <a:ext cx="140208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60" b="1" i="0">
                <a:solidFill>
                  <a:srgbClr val="FFFFFF"/>
                </a:solidFill>
                <a:latin typeface="Aptos Serif"/>
              </a:rPr>
              <a:t>hospital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80320" y="2438400"/>
            <a:ext cx="1402080" cy="609600"/>
          </a:xfrm>
          <a:prstGeom prst="rect">
            <a:avLst/>
          </a:prstGeom>
          <a:solidFill>
            <a:srgbClr val="003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80320" y="2438400"/>
            <a:ext cx="140208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60" b="1" i="0">
                <a:solidFill>
                  <a:srgbClr val="FFFFFF"/>
                </a:solidFill>
                <a:latin typeface="Aptos Serif"/>
              </a:rPr>
              <a:t>doctor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717280" y="2743200"/>
            <a:ext cx="1463040" cy="0"/>
          </a:xfrm>
          <a:prstGeom prst="line">
            <a:avLst/>
          </a:prstGeom>
          <a:ln w="29633">
            <a:solidFill>
              <a:srgbClr val="003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875776" y="2596896"/>
            <a:ext cx="0" cy="292608"/>
          </a:xfrm>
          <a:prstGeom prst="line">
            <a:avLst/>
          </a:prstGeom>
          <a:ln w="29633">
            <a:solidFill>
              <a:srgbClr val="003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997696" y="2596896"/>
            <a:ext cx="0" cy="292608"/>
          </a:xfrm>
          <a:prstGeom prst="line">
            <a:avLst/>
          </a:prstGeom>
          <a:ln w="29633">
            <a:solidFill>
              <a:srgbClr val="003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9875519" y="2584704"/>
            <a:ext cx="304801" cy="158496"/>
          </a:xfrm>
          <a:prstGeom prst="line">
            <a:avLst/>
          </a:prstGeom>
          <a:ln w="29633">
            <a:solidFill>
              <a:srgbClr val="003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875519" y="2743200"/>
            <a:ext cx="304801" cy="158495"/>
          </a:xfrm>
          <a:prstGeom prst="line">
            <a:avLst/>
          </a:prstGeom>
          <a:ln w="29633">
            <a:solidFill>
              <a:srgbClr val="003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9631680" y="2657856"/>
            <a:ext cx="170688" cy="17068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3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0" y="3194304"/>
            <a:ext cx="4267199" cy="67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1">
                <a:solidFill>
                  <a:srgbClr val="5F6B73"/>
                </a:solidFill>
                <a:latin typeface="Calibri"/>
              </a:rPr>
              <a:t>Ét hospital har nul eller flere læger.</a:t>
            </a:r>
          </a:p>
          <a:p>
            <a:pPr algn="l">
              <a:spcAft>
                <a:spcPts val="0"/>
              </a:spcAft>
            </a:pPr>
            <a:r>
              <a:rPr sz="1466" b="0" i="1">
                <a:solidFill>
                  <a:srgbClr val="5F6B73"/>
                </a:solidFill>
                <a:latin typeface="Calibri"/>
              </a:rPr>
              <a:t>Hver læge arbejder på præcis ét hospital.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4084320"/>
            <a:ext cx="731519" cy="390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1" i="0">
                <a:solidFill>
                  <a:srgbClr val="FE4C61"/>
                </a:solidFill>
                <a:latin typeface="Courier New"/>
              </a:rPr>
              <a:t>||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19" y="4084320"/>
            <a:ext cx="3535679" cy="390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0" i="0">
                <a:solidFill>
                  <a:srgbClr val="333333"/>
                </a:solidFill>
                <a:latin typeface="Calibri"/>
              </a:rPr>
              <a:t>præcis én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4523232"/>
            <a:ext cx="731519" cy="390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1" i="0">
                <a:solidFill>
                  <a:srgbClr val="FE4C61"/>
                </a:solidFill>
                <a:latin typeface="Courier New"/>
              </a:rPr>
              <a:t>o|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19" y="4523232"/>
            <a:ext cx="3535679" cy="390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0" i="0">
                <a:solidFill>
                  <a:srgbClr val="333333"/>
                </a:solidFill>
                <a:latin typeface="Calibri"/>
              </a:rPr>
              <a:t>nul eller én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4962144"/>
            <a:ext cx="731519" cy="390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1" i="0">
                <a:solidFill>
                  <a:srgbClr val="FE4C61"/>
                </a:solidFill>
                <a:latin typeface="Courier New"/>
              </a:rPr>
              <a:t>|&lt;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19" y="4962144"/>
            <a:ext cx="3535679" cy="390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0" i="0">
                <a:solidFill>
                  <a:srgbClr val="333333"/>
                </a:solidFill>
                <a:latin typeface="Calibri"/>
              </a:rPr>
              <a:t>én eller flere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5401056"/>
            <a:ext cx="731519" cy="390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1" i="0">
                <a:solidFill>
                  <a:srgbClr val="FE4C61"/>
                </a:solidFill>
                <a:latin typeface="Courier New"/>
              </a:rPr>
              <a:t>o&lt;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6719" y="5401056"/>
            <a:ext cx="3535679" cy="390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0" i="0">
                <a:solidFill>
                  <a:srgbClr val="333333"/>
                </a:solidFill>
                <a:latin typeface="Calibri"/>
              </a:rPr>
              <a:t>nul eller flere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9600" y="5791200"/>
            <a:ext cx="1097280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0" i="1">
                <a:solidFill>
                  <a:srgbClr val="5F6B73"/>
                </a:solidFill>
                <a:latin typeface="Calibri"/>
              </a:rPr>
              <a:t>Del 1 har én entity. Relationships kommer i del 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Design: en metode i 7 trin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FFFFFF"/>
                </a:solidFill>
                <a:latin typeface="Calibri"/>
              </a:rPr>
              <a:t>Hele gennemgangen står i er_design_guide.md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828800"/>
            <a:ext cx="2560320" cy="1706879"/>
          </a:xfrm>
          <a:prstGeom prst="rect">
            <a:avLst/>
          </a:prstGeom>
          <a:solidFill>
            <a:srgbClr val="E3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92480" y="2011679"/>
            <a:ext cx="512063" cy="512063"/>
          </a:xfrm>
          <a:prstGeom prst="ellipse">
            <a:avLst/>
          </a:prstGeom>
          <a:solidFill>
            <a:srgbClr val="1F8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480" y="2011679"/>
            <a:ext cx="512063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480" y="2621279"/>
            <a:ext cx="22555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038A8"/>
                </a:solidFill>
                <a:latin typeface="Aptos Serif"/>
              </a:rPr>
              <a:t>Indsaml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480" y="2987040"/>
            <a:ext cx="2255520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Hvilke felter skal vi gemme?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13759" y="1828800"/>
            <a:ext cx="2560320" cy="1706879"/>
          </a:xfrm>
          <a:prstGeom prst="rect">
            <a:avLst/>
          </a:prstGeom>
          <a:solidFill>
            <a:srgbClr val="E3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96639" y="2011679"/>
            <a:ext cx="512063" cy="512063"/>
          </a:xfrm>
          <a:prstGeom prst="ellipse">
            <a:avLst/>
          </a:prstGeom>
          <a:solidFill>
            <a:srgbClr val="1F8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6639" y="2011679"/>
            <a:ext cx="512063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6639" y="2621279"/>
            <a:ext cx="22555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038A8"/>
                </a:solidFill>
                <a:latin typeface="Aptos Serif"/>
              </a:rPr>
              <a:t>Entities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6639" y="2987040"/>
            <a:ext cx="2255520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Hvilke ting beskriver de?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19" y="1828800"/>
            <a:ext cx="2560320" cy="1706879"/>
          </a:xfrm>
          <a:prstGeom prst="rect">
            <a:avLst/>
          </a:prstGeom>
          <a:solidFill>
            <a:srgbClr val="E3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2011679"/>
            <a:ext cx="512063" cy="512063"/>
          </a:xfrm>
          <a:prstGeom prst="ellipse">
            <a:avLst/>
          </a:prstGeom>
          <a:solidFill>
            <a:srgbClr val="1F8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011679"/>
            <a:ext cx="512063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21279"/>
            <a:ext cx="22555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038A8"/>
                </a:solidFill>
                <a:latin typeface="Aptos Serif"/>
              </a:rPr>
              <a:t>Attributes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987040"/>
            <a:ext cx="2255520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Tal eller tekst? Sortere eller regne?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22079" y="1828800"/>
            <a:ext cx="2560320" cy="1706879"/>
          </a:xfrm>
          <a:prstGeom prst="rect">
            <a:avLst/>
          </a:prstGeom>
          <a:solidFill>
            <a:srgbClr val="E3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04960" y="2011679"/>
            <a:ext cx="512063" cy="512063"/>
          </a:xfrm>
          <a:prstGeom prst="ellipse">
            <a:avLst/>
          </a:prstGeom>
          <a:solidFill>
            <a:srgbClr val="1F8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04960" y="2011679"/>
            <a:ext cx="512063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04960" y="2621279"/>
            <a:ext cx="22555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038A8"/>
                </a:solidFill>
                <a:latin typeface="Aptos Serif"/>
              </a:rPr>
              <a:t>Primary key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04960" y="2987040"/>
            <a:ext cx="2255520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Hvad identificerer én række?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" y="3779519"/>
            <a:ext cx="2560320" cy="1706879"/>
          </a:xfrm>
          <a:prstGeom prst="rect">
            <a:avLst/>
          </a:prstGeom>
          <a:solidFill>
            <a:srgbClr val="E3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2480" y="3962399"/>
            <a:ext cx="512063" cy="512063"/>
          </a:xfrm>
          <a:prstGeom prst="ellipse">
            <a:avLst/>
          </a:prstGeom>
          <a:solidFill>
            <a:srgbClr val="1F8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2480" y="3962399"/>
            <a:ext cx="512063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2480" y="4572000"/>
            <a:ext cx="22555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038A8"/>
                </a:solidFill>
                <a:latin typeface="Aptos Serif"/>
              </a:rPr>
              <a:t>Påkrævet?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2480" y="4937759"/>
            <a:ext cx="2255520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NULL eller NOT NULL?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13759" y="3779519"/>
            <a:ext cx="2560320" cy="1706879"/>
          </a:xfrm>
          <a:prstGeom prst="rect">
            <a:avLst/>
          </a:prstGeom>
          <a:solidFill>
            <a:srgbClr val="E3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596639" y="3962399"/>
            <a:ext cx="512063" cy="512063"/>
          </a:xfrm>
          <a:prstGeom prst="ellipse">
            <a:avLst/>
          </a:prstGeom>
          <a:solidFill>
            <a:srgbClr val="1F8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96639" y="3962399"/>
            <a:ext cx="512063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96639" y="4572000"/>
            <a:ext cx="22555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038A8"/>
                </a:solidFill>
                <a:latin typeface="Aptos Serif"/>
              </a:rPr>
              <a:t>Regler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96639" y="4937759"/>
            <a:ext cx="2255520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Hvilke værdier giver ingen mening?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19" y="3779519"/>
            <a:ext cx="2560320" cy="1706879"/>
          </a:xfrm>
          <a:prstGeom prst="rect">
            <a:avLst/>
          </a:prstGeom>
          <a:solidFill>
            <a:srgbClr val="E3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00800" y="3962399"/>
            <a:ext cx="512063" cy="512063"/>
          </a:xfrm>
          <a:prstGeom prst="ellipse">
            <a:avLst/>
          </a:prstGeom>
          <a:solidFill>
            <a:srgbClr val="FE4C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3962399"/>
            <a:ext cx="512063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572000"/>
            <a:ext cx="22555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038A8"/>
                </a:solidFill>
                <a:latin typeface="Aptos Serif"/>
              </a:rPr>
              <a:t>Tjek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937759"/>
            <a:ext cx="2255520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Én værdi per celle? Gemt to gange?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22080" y="3779519"/>
            <a:ext cx="2560320" cy="17068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0" i="1">
                <a:solidFill>
                  <a:srgbClr val="1F8A93"/>
                </a:solidFill>
                <a:latin typeface="Calibri"/>
              </a:rPr>
              <a:t>Tænk først, tegn bagefter. At ændre en tegning er billigt. At ændre en tabel fuld af data er ikke.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Trin 1–3: felter, entity, data types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FFFFFF"/>
                </a:solidFill>
                <a:latin typeface="Calibri"/>
              </a:rPr>
              <a:t>Anvendt på patient.yml fra lektion 4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828800"/>
            <a:ext cx="4023359" cy="2926079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480" y="1975104"/>
            <a:ext cx="3657600" cy="2682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patients: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id: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  1: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    age: 34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    allergies: false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    blood_type: O+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    first_name: Kevin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    last_name: Holm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937759"/>
            <a:ext cx="4023359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33"/>
              </a:spcAft>
            </a:pPr>
            <a:r>
              <a:rPr sz="1733" b="1" i="0">
                <a:solidFill>
                  <a:srgbClr val="0038A8"/>
                </a:solidFill>
                <a:latin typeface="Calibri"/>
              </a:rPr>
              <a:t>Entity: </a:t>
            </a:r>
            <a:r>
              <a:rPr sz="1733" b="0" i="0">
                <a:solidFill>
                  <a:srgbClr val="333333"/>
                </a:solidFill>
                <a:latin typeface="Calibri"/>
              </a:rPr>
              <a:t>alle felter beskriver én patient → tabellen </a:t>
            </a:r>
            <a:r>
              <a:rPr sz="1733" b="1" i="0">
                <a:solidFill>
                  <a:srgbClr val="1F8A93"/>
                </a:solidFill>
                <a:latin typeface="Courier New"/>
              </a:rPr>
              <a:t>patient</a:t>
            </a:r>
          </a:p>
          <a:p>
            <a:pPr algn="l">
              <a:spcAft>
                <a:spcPts val="533"/>
              </a:spcAft>
            </a:pPr>
            <a:r>
              <a:rPr sz="1733" b="0" i="1">
                <a:solidFill>
                  <a:srgbClr val="5F6B73"/>
                </a:solidFill>
                <a:latin typeface="Calibri"/>
              </a:rPr>
              <a:t>Navngiv tabeller med små bogstaver i ental.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998719" y="1828800"/>
          <a:ext cx="65836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341120"/>
                <a:gridCol w="3596640"/>
              </a:tblGrid>
              <a:tr h="48768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Felt</a:t>
                      </a:r>
                    </a:p>
                  </a:txBody>
                  <a:tcPr marL="97536" marR="97536" marT="36575" marB="36575" anchor="ctr">
                    <a:solidFill>
                      <a:srgbClr val="0038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97536" marR="97536" marT="36575" marB="36575" anchor="ctr">
                    <a:solidFill>
                      <a:srgbClr val="0038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Hvorfor</a:t>
                      </a:r>
                    </a:p>
                  </a:txBody>
                  <a:tcPr marL="97536" marR="97536" marT="36575" marB="36575" anchor="ctr">
                    <a:solidFill>
                      <a:srgbClr val="0038A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ourier New"/>
                        </a:rPr>
                        <a:t>first_name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ourier New"/>
                        </a:rPr>
                        <a:t>text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fritekst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ourier New"/>
                        </a:rPr>
                        <a:t>last_name</a:t>
                      </a:r>
                    </a:p>
                  </a:txBody>
                  <a:tcPr marL="97536" marR="97536" marT="36575" marB="36575" anchor="ctr">
                    <a:solidFill>
                      <a:srgbClr val="E3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ourier New"/>
                        </a:rPr>
                        <a:t>text</a:t>
                      </a:r>
                    </a:p>
                  </a:txBody>
                  <a:tcPr marL="97536" marR="97536" marT="36575" marB="36575" anchor="ctr">
                    <a:solidFill>
                      <a:srgbClr val="E3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fritekst</a:t>
                      </a:r>
                    </a:p>
                  </a:txBody>
                  <a:tcPr marL="97536" marR="97536" marT="36575" marB="36575" anchor="ctr">
                    <a:solidFill>
                      <a:srgbClr val="E3EAF7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ourier New"/>
                        </a:rPr>
                        <a:t>age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ourier New"/>
                        </a:rPr>
                        <a:t>integer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vi sorterer og sammenligner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ourier New"/>
                        </a:rPr>
                        <a:t>blood_type</a:t>
                      </a:r>
                    </a:p>
                  </a:txBody>
                  <a:tcPr marL="97536" marR="97536" marT="36575" marB="36575" anchor="ctr">
                    <a:solidFill>
                      <a:srgbClr val="E3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ourier New"/>
                        </a:rPr>
                        <a:t>text</a:t>
                      </a:r>
                    </a:p>
                  </a:txBody>
                  <a:tcPr marL="97536" marR="97536" marT="36575" marB="36575" anchor="ctr">
                    <a:solidFill>
                      <a:srgbClr val="E3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tekst fra en fast liste</a:t>
                      </a:r>
                    </a:p>
                  </a:txBody>
                  <a:tcPr marL="97536" marR="97536" marT="36575" marB="36575" anchor="ctr">
                    <a:solidFill>
                      <a:srgbClr val="E3EAF7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ourier New"/>
                        </a:rPr>
                        <a:t>allergies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ourier New"/>
                        </a:rPr>
                        <a:t>text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tekst, efter rensning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998719" y="5059680"/>
            <a:ext cx="6583680" cy="975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>
                <a:solidFill>
                  <a:srgbClr val="5F6B73"/>
                </a:solidFill>
                <a:latin typeface="Calibri"/>
              </a:rPr>
              <a:t>Diskutér: alder ændrer sig hvert år. Et rigtigt system gemmer birth_date DATE og beregner alderen.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Trin 4–6: key, påkrævet, regler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280160"/>
            <a:ext cx="11460480" cy="4913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523999"/>
            <a:ext cx="3474720" cy="3779519"/>
          </a:xfrm>
          <a:prstGeom prst="rect">
            <a:avLst/>
          </a:prstGeom>
          <a:solidFill>
            <a:srgbClr val="E3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3439" y="1767839"/>
            <a:ext cx="548640" cy="548640"/>
          </a:xfrm>
          <a:prstGeom prst="ellipse">
            <a:avLst/>
          </a:prstGeom>
          <a:solidFill>
            <a:srgbClr val="1F8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39" y="1767839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84960" y="1767839"/>
            <a:ext cx="2316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60" b="1" i="0">
                <a:solidFill>
                  <a:srgbClr val="0038A8"/>
                </a:solidFill>
                <a:latin typeface="Aptos Serif"/>
              </a:rPr>
              <a:t>Primary key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39" y="2560320"/>
            <a:ext cx="3047999" cy="3535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66"/>
              </a:spcAft>
            </a:pPr>
            <a:r>
              <a:rPr sz="1733" b="0" i="0">
                <a:solidFill>
                  <a:srgbClr val="333333"/>
                </a:solidFill>
                <a:latin typeface="Calibri"/>
              </a:rPr>
              <a:t>Skal være unik, aldrig NULL, må aldrig ændre sig.</a:t>
            </a:r>
          </a:p>
          <a:p>
            <a:pPr algn="l">
              <a:spcAft>
                <a:spcPts val="1066"/>
              </a:spcAft>
            </a:pPr>
            <a:r>
              <a:rPr sz="1733" b="0" i="0">
                <a:solidFill>
                  <a:srgbClr val="333333"/>
                </a:solidFill>
                <a:latin typeface="Calibri"/>
              </a:rPr>
              <a:t>Navn? Der findes to Kevin Holm.</a:t>
            </a:r>
          </a:p>
          <a:p>
            <a:pPr algn="l">
              <a:spcAft>
                <a:spcPts val="1066"/>
              </a:spcAft>
            </a:pPr>
            <a:r>
              <a:rPr sz="1733" b="0" i="0">
                <a:solidFill>
                  <a:srgbClr val="333333"/>
                </a:solidFill>
                <a:latin typeface="Calibri"/>
              </a:rPr>
              <a:t>CPR? Følsomme data.</a:t>
            </a:r>
          </a:p>
          <a:p>
            <a:pPr algn="l">
              <a:spcAft>
                <a:spcPts val="1066"/>
              </a:spcAft>
            </a:pPr>
            <a:r>
              <a:rPr sz="1733" b="0" i="0">
                <a:solidFill>
                  <a:srgbClr val="333333"/>
                </a:solidFill>
                <a:latin typeface="Calibri"/>
              </a:rPr>
              <a:t>→ en surrogate key: patient_id, genereret af databasen.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8159" y="1523999"/>
            <a:ext cx="3474720" cy="3779519"/>
          </a:xfrm>
          <a:prstGeom prst="rect">
            <a:avLst/>
          </a:prstGeom>
          <a:solidFill>
            <a:srgbClr val="E3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0" y="1767839"/>
            <a:ext cx="548640" cy="548640"/>
          </a:xfrm>
          <a:prstGeom prst="ellipse">
            <a:avLst/>
          </a:prstGeom>
          <a:solidFill>
            <a:srgbClr val="1F8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767839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19" y="1767839"/>
            <a:ext cx="2316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60" b="1" i="0">
                <a:solidFill>
                  <a:srgbClr val="0038A8"/>
                </a:solidFill>
                <a:latin typeface="Aptos Serif"/>
              </a:rPr>
              <a:t>Påkrævet?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560320"/>
            <a:ext cx="3047999" cy="3535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66"/>
              </a:spcAft>
            </a:pPr>
            <a:r>
              <a:rPr sz="1733" b="0" i="0">
                <a:solidFill>
                  <a:srgbClr val="333333"/>
                </a:solidFill>
                <a:latin typeface="Calibri"/>
              </a:rPr>
              <a:t>Kan en patient eksistere uden?</a:t>
            </a:r>
          </a:p>
          <a:p>
            <a:pPr algn="l">
              <a:spcAft>
                <a:spcPts val="1066"/>
              </a:spcAft>
            </a:pPr>
            <a:r>
              <a:rPr sz="1733" b="0" i="0">
                <a:solidFill>
                  <a:srgbClr val="333333"/>
                </a:solidFill>
                <a:latin typeface="Calibri"/>
              </a:rPr>
              <a:t>navne, age, blood_type → NOT NULL</a:t>
            </a:r>
          </a:p>
          <a:p>
            <a:pPr algn="l">
              <a:spcAft>
                <a:spcPts val="1066"/>
              </a:spcAft>
            </a:pPr>
            <a:r>
              <a:rPr sz="1733" b="0" i="0">
                <a:solidFill>
                  <a:srgbClr val="333333"/>
                </a:solidFill>
                <a:latin typeface="Calibri"/>
              </a:rPr>
              <a:t>allergies → må være NULL</a:t>
            </a:r>
          </a:p>
          <a:p>
            <a:pPr algn="l">
              <a:spcAft>
                <a:spcPts val="1066"/>
              </a:spcAft>
            </a:pPr>
            <a:r>
              <a:rPr sz="1733" b="0" i="0">
                <a:solidFill>
                  <a:srgbClr val="333333"/>
                </a:solidFill>
                <a:latin typeface="Calibri"/>
              </a:rPr>
              <a:t>Én betydning: NULL = ingen kendte allergier (ikke false, ikke 'No').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19" y="1523999"/>
            <a:ext cx="3474720" cy="3779519"/>
          </a:xfrm>
          <a:prstGeom prst="rect">
            <a:avLst/>
          </a:prstGeom>
          <a:solidFill>
            <a:srgbClr val="E3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90560" y="1767839"/>
            <a:ext cx="548640" cy="548640"/>
          </a:xfrm>
          <a:prstGeom prst="ellipse">
            <a:avLst/>
          </a:prstGeom>
          <a:solidFill>
            <a:srgbClr val="1F8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0560" y="1767839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22079" y="1767839"/>
            <a:ext cx="2316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60" b="1" i="0">
                <a:solidFill>
                  <a:srgbClr val="0038A8"/>
                </a:solidFill>
                <a:latin typeface="Aptos Serif"/>
              </a:rPr>
              <a:t>Regler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0560" y="2560320"/>
            <a:ext cx="3047999" cy="3535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66"/>
              </a:spcAft>
            </a:pPr>
            <a:r>
              <a:rPr sz="1733" b="0" i="0">
                <a:solidFill>
                  <a:srgbClr val="333333"/>
                </a:solidFill>
                <a:latin typeface="Calibri"/>
              </a:rPr>
              <a:t>Hvilke værdier giver ingen mening?</a:t>
            </a:r>
          </a:p>
          <a:p>
            <a:pPr algn="l">
              <a:spcAft>
                <a:spcPts val="1066"/>
              </a:spcAft>
            </a:pPr>
            <a:r>
              <a:rPr sz="1733" b="0" i="0">
                <a:solidFill>
                  <a:srgbClr val="333333"/>
                </a:solidFill>
                <a:latin typeface="Calibri"/>
              </a:rPr>
              <a:t>age: CHECK (age BETWEEN 0 AND 150)</a:t>
            </a:r>
          </a:p>
          <a:p>
            <a:pPr algn="l">
              <a:spcAft>
                <a:spcPts val="1066"/>
              </a:spcAft>
            </a:pPr>
            <a:r>
              <a:rPr sz="1733" b="0" i="0">
                <a:solidFill>
                  <a:srgbClr val="333333"/>
                </a:solidFill>
                <a:latin typeface="Calibri"/>
              </a:rPr>
              <a:t>blood_type: CHECK (… IN ('A+', …, 'O-'))</a:t>
            </a:r>
          </a:p>
          <a:p>
            <a:pPr algn="l">
              <a:spcAft>
                <a:spcPts val="1066"/>
              </a:spcAft>
            </a:pPr>
            <a:r>
              <a:rPr sz="1733" b="0" i="0">
                <a:solidFill>
                  <a:srgbClr val="333333"/>
                </a:solidFill>
                <a:latin typeface="Calibri"/>
              </a:rPr>
              <a:t>Databasen afviser dårlige data fra alle programmer.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Trin 7: tjek designet, og tegn så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FFFFFF"/>
                </a:solidFill>
                <a:latin typeface="Calibri"/>
              </a:rPr>
              <a:t>Resultatet for del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19" y="1828800"/>
            <a:ext cx="4389120" cy="609600"/>
          </a:xfrm>
          <a:prstGeom prst="rect">
            <a:avLst/>
          </a:prstGeom>
          <a:solidFill>
            <a:srgbClr val="003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1828800"/>
            <a:ext cx="438912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160" b="1" i="0">
                <a:solidFill>
                  <a:srgbClr val="FFFFFF"/>
                </a:solidFill>
                <a:latin typeface="Aptos Serif"/>
              </a:rPr>
              <a:t>patient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19" y="2438400"/>
            <a:ext cx="438912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3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548640" cy="4632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E4C61"/>
                </a:solidFill>
                <a:latin typeface="Courier New"/>
              </a:rPr>
              <a:t>PK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3999" y="2560320"/>
            <a:ext cx="1950720" cy="4632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0" i="0">
                <a:solidFill>
                  <a:srgbClr val="333333"/>
                </a:solidFill>
                <a:latin typeface="Courier New"/>
              </a:rPr>
              <a:t>patient_id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560320"/>
            <a:ext cx="1584960" cy="4632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5F6B73"/>
                </a:solidFill>
                <a:latin typeface="Courier New"/>
              </a:rPr>
              <a:t>integer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72384"/>
            <a:ext cx="548640" cy="4632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E4C61"/>
                </a:solidFill>
                <a:latin typeface="Courier New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3999" y="3072384"/>
            <a:ext cx="1950720" cy="4632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0" i="0">
                <a:solidFill>
                  <a:srgbClr val="333333"/>
                </a:solidFill>
                <a:latin typeface="Courier New"/>
              </a:rPr>
              <a:t>first_name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072384"/>
            <a:ext cx="1584960" cy="4632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5F6B73"/>
                </a:solidFill>
                <a:latin typeface="Courier New"/>
              </a:rPr>
              <a:t>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84448"/>
            <a:ext cx="548640" cy="4632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E4C61"/>
                </a:solidFill>
                <a:latin typeface="Courier New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3999" y="3584448"/>
            <a:ext cx="1950720" cy="4632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0" i="0">
                <a:solidFill>
                  <a:srgbClr val="333333"/>
                </a:solidFill>
                <a:latin typeface="Courier New"/>
              </a:rPr>
              <a:t>last_name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584448"/>
            <a:ext cx="1584960" cy="4632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5F6B73"/>
                </a:solidFill>
                <a:latin typeface="Courier New"/>
              </a:rPr>
              <a:t>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96512"/>
            <a:ext cx="548640" cy="4632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E4C61"/>
                </a:solidFill>
                <a:latin typeface="Courier New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3999" y="4096512"/>
            <a:ext cx="1950720" cy="4632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0" i="0">
                <a:solidFill>
                  <a:srgbClr val="333333"/>
                </a:solidFill>
                <a:latin typeface="Courier New"/>
              </a:rPr>
              <a:t>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4096512"/>
            <a:ext cx="1584960" cy="4632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5F6B73"/>
                </a:solidFill>
                <a:latin typeface="Courier New"/>
              </a:rPr>
              <a:t>integer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608576"/>
            <a:ext cx="548640" cy="4632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E4C61"/>
                </a:solidFill>
                <a:latin typeface="Courier New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3999" y="4608576"/>
            <a:ext cx="1950720" cy="4632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0" i="0">
                <a:solidFill>
                  <a:srgbClr val="333333"/>
                </a:solidFill>
                <a:latin typeface="Courier New"/>
              </a:rPr>
              <a:t>blood_type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4608576"/>
            <a:ext cx="1584960" cy="4632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5F6B73"/>
                </a:solidFill>
                <a:latin typeface="Courier New"/>
              </a:rPr>
              <a:t>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120640"/>
            <a:ext cx="548640" cy="4632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E4C61"/>
                </a:solidFill>
                <a:latin typeface="Courier New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3999" y="5120640"/>
            <a:ext cx="1950720" cy="4632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0" i="0">
                <a:solidFill>
                  <a:srgbClr val="333333"/>
                </a:solidFill>
                <a:latin typeface="Courier New"/>
              </a:rPr>
              <a:t>allergies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5120640"/>
            <a:ext cx="1584960" cy="4632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5F6B73"/>
                </a:solidFill>
                <a:latin typeface="Courier New"/>
              </a:rPr>
              <a:t>text · null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08320" y="1828800"/>
            <a:ext cx="5974080" cy="1158240"/>
          </a:xfrm>
          <a:prstGeom prst="rect">
            <a:avLst/>
          </a:prstGeom>
          <a:solidFill>
            <a:srgbClr val="E3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91200" y="1950720"/>
            <a:ext cx="56083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0038A8"/>
                </a:solidFill>
                <a:latin typeface="Aptos Serif"/>
              </a:rPr>
              <a:t>Én værdi per celle?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91200" y="2340863"/>
            <a:ext cx="5608320" cy="5730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'Peanuts, Strawberry' i én celle kan ikke søges i. Løsning: en allergy-tabel (ekstraopgave).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08320" y="3133343"/>
            <a:ext cx="5974080" cy="1158240"/>
          </a:xfrm>
          <a:prstGeom prst="rect">
            <a:avLst/>
          </a:prstGeom>
          <a:solidFill>
            <a:srgbClr val="E3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91200" y="3255263"/>
            <a:ext cx="56083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0038A8"/>
                </a:solidFill>
                <a:latin typeface="Aptos Serif"/>
              </a:rPr>
              <a:t>Er noget gemt to gange?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91200" y="3645407"/>
            <a:ext cx="5608320" cy="5730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age og birth_date side om side kan være uenige.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08320" y="4437887"/>
            <a:ext cx="5974080" cy="1158240"/>
          </a:xfrm>
          <a:prstGeom prst="rect">
            <a:avLst/>
          </a:prstGeom>
          <a:solidFill>
            <a:srgbClr val="E3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91200" y="4559808"/>
            <a:ext cx="56083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0038A8"/>
                </a:solidFill>
                <a:latin typeface="Aptos Serif"/>
              </a:rPr>
              <a:t>Beskriver hver kolonne denne entity?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91200" y="4949951"/>
            <a:ext cx="5608320" cy="5730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hospital_name hører ikke til i patient. Den får sin egen tabel i del 2.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Trin 1.7: tegn det i pgAdmin 9.18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FFFFFF"/>
                </a:solidFill>
                <a:latin typeface="Calibri"/>
              </a:rPr>
              <a:t>ERD Tool: fra tegning til CREATE TABLE</a:t>
            </a:r>
          </a:p>
        </p:txBody>
      </p:sp>
      <p:sp>
        <p:nvSpPr>
          <p:cNvPr id="5" name="Oval 4"/>
          <p:cNvSpPr/>
          <p:nvPr/>
        </p:nvSpPr>
        <p:spPr>
          <a:xfrm>
            <a:off x="609600" y="1828800"/>
            <a:ext cx="548640" cy="548640"/>
          </a:xfrm>
          <a:prstGeom prst="ellipse">
            <a:avLst/>
          </a:prstGeom>
          <a:solidFill>
            <a:srgbClr val="1F8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18288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1120" y="1828800"/>
            <a:ext cx="463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0">
                <a:solidFill>
                  <a:srgbClr val="333333"/>
                </a:solidFill>
                <a:latin typeface="Calibri"/>
              </a:rPr>
              <a:t>Højreklik på sundhedsapp → ERD For Database</a:t>
            </a:r>
          </a:p>
        </p:txBody>
      </p:sp>
      <p:sp>
        <p:nvSpPr>
          <p:cNvPr id="8" name="Oval 7"/>
          <p:cNvSpPr/>
          <p:nvPr/>
        </p:nvSpPr>
        <p:spPr>
          <a:xfrm>
            <a:off x="609600" y="2706623"/>
            <a:ext cx="548640" cy="548640"/>
          </a:xfrm>
          <a:prstGeom prst="ellipse">
            <a:avLst/>
          </a:prstGeom>
          <a:solidFill>
            <a:srgbClr val="1F8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2706623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1120" y="2706623"/>
            <a:ext cx="463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0">
                <a:solidFill>
                  <a:srgbClr val="333333"/>
                </a:solidFill>
                <a:latin typeface="Calibri"/>
              </a:rPr>
              <a:t>Klik på Add table (tabelikon med +)</a:t>
            </a:r>
          </a:p>
        </p:txBody>
      </p:sp>
      <p:sp>
        <p:nvSpPr>
          <p:cNvPr id="11" name="Oval 10"/>
          <p:cNvSpPr/>
          <p:nvPr/>
        </p:nvSpPr>
        <p:spPr>
          <a:xfrm>
            <a:off x="609600" y="3584448"/>
            <a:ext cx="548640" cy="548640"/>
          </a:xfrm>
          <a:prstGeom prst="ellipse">
            <a:avLst/>
          </a:prstGeom>
          <a:solidFill>
            <a:srgbClr val="1F8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3584448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1120" y="3584448"/>
            <a:ext cx="463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0">
                <a:solidFill>
                  <a:srgbClr val="333333"/>
                </a:solidFill>
                <a:latin typeface="Calibri"/>
              </a:rPr>
              <a:t>Fanen General: Name = patient</a:t>
            </a:r>
          </a:p>
        </p:txBody>
      </p:sp>
      <p:sp>
        <p:nvSpPr>
          <p:cNvPr id="14" name="Oval 13"/>
          <p:cNvSpPr/>
          <p:nvPr/>
        </p:nvSpPr>
        <p:spPr>
          <a:xfrm>
            <a:off x="609600" y="4462272"/>
            <a:ext cx="548640" cy="548640"/>
          </a:xfrm>
          <a:prstGeom prst="ellipse">
            <a:avLst/>
          </a:prstGeom>
          <a:solidFill>
            <a:srgbClr val="1F8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600" y="446227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1120" y="4462272"/>
            <a:ext cx="463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0">
                <a:solidFill>
                  <a:srgbClr val="333333"/>
                </a:solidFill>
                <a:latin typeface="Calibri"/>
              </a:rPr>
              <a:t>Fanen Columns: + for hver kolonne, vælg type</a:t>
            </a:r>
          </a:p>
        </p:txBody>
      </p:sp>
      <p:sp>
        <p:nvSpPr>
          <p:cNvPr id="17" name="Oval 16"/>
          <p:cNvSpPr/>
          <p:nvPr/>
        </p:nvSpPr>
        <p:spPr>
          <a:xfrm>
            <a:off x="6217919" y="1828800"/>
            <a:ext cx="548640" cy="548640"/>
          </a:xfrm>
          <a:prstGeom prst="ellipse">
            <a:avLst/>
          </a:prstGeom>
          <a:solidFill>
            <a:srgbClr val="1F8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19" y="18288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39" y="1828800"/>
            <a:ext cx="463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0">
                <a:solidFill>
                  <a:srgbClr val="333333"/>
                </a:solidFill>
                <a:latin typeface="Calibri"/>
              </a:rPr>
              <a:t>Slå Not NULL? og Primary key? til</a:t>
            </a:r>
          </a:p>
        </p:txBody>
      </p:sp>
      <p:sp>
        <p:nvSpPr>
          <p:cNvPr id="20" name="Oval 19"/>
          <p:cNvSpPr/>
          <p:nvPr/>
        </p:nvSpPr>
        <p:spPr>
          <a:xfrm>
            <a:off x="6217919" y="2706623"/>
            <a:ext cx="548640" cy="548640"/>
          </a:xfrm>
          <a:prstGeom prst="ellipse">
            <a:avLst/>
          </a:prstGeom>
          <a:solidFill>
            <a:srgbClr val="1F8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19" y="2706623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39" y="2706623"/>
            <a:ext cx="463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0">
                <a:solidFill>
                  <a:srgbClr val="333333"/>
                </a:solidFill>
                <a:latin typeface="Calibri"/>
              </a:rPr>
              <a:t>patient_id → Constraints: IDENTITY, ALWAYS</a:t>
            </a:r>
          </a:p>
        </p:txBody>
      </p:sp>
      <p:sp>
        <p:nvSpPr>
          <p:cNvPr id="23" name="Oval 22"/>
          <p:cNvSpPr/>
          <p:nvPr/>
        </p:nvSpPr>
        <p:spPr>
          <a:xfrm>
            <a:off x="6217919" y="3584448"/>
            <a:ext cx="548640" cy="548640"/>
          </a:xfrm>
          <a:prstGeom prst="ellipse">
            <a:avLst/>
          </a:prstGeom>
          <a:solidFill>
            <a:srgbClr val="1F8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19" y="3584448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39" y="3584448"/>
            <a:ext cx="463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0">
                <a:solidFill>
                  <a:srgbClr val="333333"/>
                </a:solidFill>
                <a:latin typeface="Calibri"/>
              </a:rPr>
              <a:t>Save, derefter Generate SQL (SQL-ikon)</a:t>
            </a:r>
          </a:p>
        </p:txBody>
      </p:sp>
      <p:sp>
        <p:nvSpPr>
          <p:cNvPr id="26" name="Oval 25"/>
          <p:cNvSpPr/>
          <p:nvPr/>
        </p:nvSpPr>
        <p:spPr>
          <a:xfrm>
            <a:off x="6217919" y="4462272"/>
            <a:ext cx="548640" cy="548640"/>
          </a:xfrm>
          <a:prstGeom prst="ellipse">
            <a:avLst/>
          </a:prstGeom>
          <a:solidFill>
            <a:srgbClr val="1F8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19" y="446227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39" y="4462272"/>
            <a:ext cx="463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0">
                <a:solidFill>
                  <a:srgbClr val="333333"/>
                </a:solidFill>
                <a:latin typeface="Calibri"/>
              </a:rPr>
              <a:t>Gem diagrammet som patient.pgerd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9600" y="5547360"/>
            <a:ext cx="10972800" cy="670560"/>
          </a:xfrm>
          <a:prstGeom prst="rect">
            <a:avLst/>
          </a:prstGeom>
          <a:solidFill>
            <a:srgbClr val="FD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3439" y="5547360"/>
            <a:ext cx="10485119" cy="670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1" i="0">
                <a:solidFill>
                  <a:srgbClr val="C0392B"/>
                </a:solidFill>
                <a:latin typeface="Calibri"/>
              </a:rPr>
              <a:t>Bemærk: </a:t>
            </a:r>
            <a:r>
              <a:rPr sz="1866" b="0" i="0">
                <a:solidFill>
                  <a:srgbClr val="333333"/>
                </a:solidFill>
                <a:latin typeface="Calibri"/>
              </a:rPr>
              <a:t>ERD Tool laver ikke CHECK-regler. Tilføj dem i schema.sql (trin 2.3).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Trin 2: CREATE TABLE med constraints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FFFFFF"/>
                </a:solidFill>
                <a:latin typeface="Calibri"/>
              </a:rPr>
              <a:t>Hvis en regel brydes, afviser databasen statementet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828800"/>
            <a:ext cx="5852159" cy="414528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480" y="1975104"/>
            <a:ext cx="5486400" cy="3901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ourier New"/>
              </a:rPr>
              <a:t>CREATE TABLE patient (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ourier New"/>
              </a:rPr>
              <a:t>  patient_id INTEGER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ourier New"/>
              </a:rPr>
              <a:t>    GENERATED ALWAYS AS IDENTITY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ourier New"/>
              </a:rPr>
              <a:t>    PRIMARY KEY,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ourier New"/>
              </a:rPr>
              <a:t>  first_name TEXT    NOT NULL,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ourier New"/>
              </a:rPr>
              <a:t>  last_name  TEXT    NOT NULL,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ourier New"/>
              </a:rPr>
              <a:t>  age        INTEGER NOT NULL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ourier New"/>
              </a:rPr>
              <a:t>    CHECK (age BETWEEN 0 AND 150),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ourier New"/>
              </a:rPr>
              <a:t>  blood_type TEXT    NOT NULL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ourier New"/>
              </a:rPr>
              <a:t>    CHECK (blood_type IN ('A+','A-',...)),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ourier New"/>
              </a:rPr>
              <a:t>  allergies  TEXT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ourier New"/>
              </a:rPr>
              <a:t>);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59" y="1828800"/>
            <a:ext cx="4815840" cy="938784"/>
          </a:xfrm>
          <a:prstGeom prst="rect">
            <a:avLst/>
          </a:prstGeom>
          <a:solidFill>
            <a:srgbClr val="E3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73823" y="1926335"/>
            <a:ext cx="445008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1" i="0">
                <a:solidFill>
                  <a:srgbClr val="FE4C61"/>
                </a:solidFill>
                <a:latin typeface="Courier New"/>
              </a:rPr>
              <a:t>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73823" y="2316480"/>
            <a:ext cx="445008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Nummereres 1, 2, 3… for dig. Erstatter len(new) + 1.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59" y="2889504"/>
            <a:ext cx="4815840" cy="938784"/>
          </a:xfrm>
          <a:prstGeom prst="rect">
            <a:avLst/>
          </a:prstGeom>
          <a:solidFill>
            <a:srgbClr val="E3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73823" y="2987040"/>
            <a:ext cx="445008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1" i="0">
                <a:solidFill>
                  <a:srgbClr val="FE4C61"/>
                </a:solidFill>
                <a:latin typeface="Courier New"/>
              </a:rPr>
              <a:t>NOT NULL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73823" y="3377184"/>
            <a:ext cx="445008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En værdi er påkrævet.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59" y="3950208"/>
            <a:ext cx="4815840" cy="938784"/>
          </a:xfrm>
          <a:prstGeom prst="rect">
            <a:avLst/>
          </a:prstGeom>
          <a:solidFill>
            <a:srgbClr val="E3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73823" y="4047744"/>
            <a:ext cx="445008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1" i="0">
                <a:solidFill>
                  <a:srgbClr val="FE4C61"/>
                </a:solidFill>
                <a:latin typeface="Courier New"/>
              </a:rPr>
              <a:t>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73823" y="4437888"/>
            <a:ext cx="445008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Værdien skal bestå en test: interval eller liste.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59" y="5010911"/>
            <a:ext cx="4815840" cy="938784"/>
          </a:xfrm>
          <a:prstGeom prst="rect">
            <a:avLst/>
          </a:prstGeom>
          <a:solidFill>
            <a:srgbClr val="E3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73823" y="5108447"/>
            <a:ext cx="445008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1" i="0">
                <a:solidFill>
                  <a:srgbClr val="FE4C61"/>
                </a:solidFill>
                <a:latin typeface="Courier New"/>
              </a:rPr>
              <a:t>Ingen regel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73823" y="5498591"/>
            <a:ext cx="445008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allergies må være NULL, dvs. ingen kendte allergier.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Trin 2: når SQL'en ikke vil køre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FFFFFF"/>
                </a:solidFill>
                <a:latin typeface="Calibri"/>
              </a:rPr>
              <a:t>Læs fejlen: den peger på linjen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600" y="1828800"/>
          <a:ext cx="10972798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79"/>
                <a:gridCol w="3413759"/>
                <a:gridCol w="2804160"/>
              </a:tblGrid>
              <a:tr h="6096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Fejlen siger</a:t>
                      </a:r>
                    </a:p>
                  </a:txBody>
                  <a:tcPr marL="97536" marR="97536" marT="36575" marB="36575" anchor="ctr">
                    <a:solidFill>
                      <a:srgbClr val="0038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Årsag</a:t>
                      </a:r>
                    </a:p>
                  </a:txBody>
                  <a:tcPr marL="97536" marR="97536" marT="36575" marB="36575" anchor="ctr">
                    <a:solidFill>
                      <a:srgbClr val="0038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Løsning</a:t>
                      </a:r>
                    </a:p>
                  </a:txBody>
                  <a:tcPr marL="97536" marR="97536" marT="36575" marB="36575" anchor="ctr">
                    <a:solidFill>
                      <a:srgbClr val="0038A8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ourier New"/>
                        </a:rPr>
                        <a:t>syntax error at or near ")"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komma efter sidste kolonne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fjern sidste komma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ourier New"/>
                        </a:rPr>
                        <a:t>syntax error at or near "last_name"</a:t>
                      </a:r>
                    </a:p>
                  </a:txBody>
                  <a:tcPr marL="97536" marR="97536" marT="36575" marB="36575" anchor="ctr">
                    <a:solidFill>
                      <a:srgbClr val="E3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manglende komma på linjen før</a:t>
                      </a:r>
                    </a:p>
                  </a:txBody>
                  <a:tcPr marL="97536" marR="97536" marT="36575" marB="36575" anchor="ctr">
                    <a:solidFill>
                      <a:srgbClr val="E3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tilføj kommaet</a:t>
                      </a:r>
                    </a:p>
                  </a:txBody>
                  <a:tcPr marL="97536" marR="97536" marT="36575" marB="36575" anchor="ctr">
                    <a:solidFill>
                      <a:srgbClr val="E3EAF7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ourier New"/>
                        </a:rPr>
                        <a:t>relation "patient" already exists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tabellen blev oprettet tidligere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behold DROP TABLE IF EXISTS først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ourier New"/>
                        </a:rPr>
                        <a:t>forkert INSERT fejlede ikke</a:t>
                      </a:r>
                    </a:p>
                  </a:txBody>
                  <a:tcPr marL="97536" marR="97536" marT="36575" marB="36575" anchor="ctr">
                    <a:solidFill>
                      <a:srgbClr val="E3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CHECK mangler</a:t>
                      </a:r>
                    </a:p>
                  </a:txBody>
                  <a:tcPr marL="97536" marR="97536" marT="36575" marB="36575" anchor="ctr">
                    <a:solidFill>
                      <a:srgbClr val="E3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tilføj CHECK, kør schema.sql igen</a:t>
                      </a:r>
                    </a:p>
                  </a:txBody>
                  <a:tcPr marL="97536" marR="97536" marT="36575" marB="36575" anchor="ctr">
                    <a:solidFill>
                      <a:srgbClr val="E3EA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600" y="5120640"/>
            <a:ext cx="10972800" cy="975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1" i="0">
                <a:solidFill>
                  <a:srgbClr val="2E8B57"/>
                </a:solidFill>
                <a:latin typeface="Calibri"/>
              </a:rPr>
              <a:t>✅ Tjek: </a:t>
            </a:r>
            <a:r>
              <a:rPr sz="1866" b="0" i="0">
                <a:solidFill>
                  <a:srgbClr val="333333"/>
                </a:solidFill>
                <a:latin typeface="Calibri"/>
              </a:rPr>
              <a:t>SELECT * FROM patient; viser én række med patient_id = 1 og allergies = [null]. De to forkerte INSERTs fra trin 2.6 skal fejle.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19" y="2499359"/>
            <a:ext cx="10728960" cy="1097280"/>
          </a:xfrm>
        </p:spPr>
        <p:txBody>
          <a:bodyPr wrap="square" anchor="b" lIns="0" rIns="0" tIns="0" bIns="0"/>
          <a:lstStyle/>
          <a:p>
            <a:r>
              <a:rPr sz="4800"/>
              <a:t>Python og psycopg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19" y="3718560"/>
            <a:ext cx="10728960" cy="731519"/>
          </a:xfrm>
        </p:spPr>
        <p:txBody>
          <a:bodyPr wrap="square" anchor="t" lIns="0" rIns="0" tIns="0" bIns="0"/>
          <a:lstStyle/>
          <a:p>
            <a:r>
              <a:rPr sz="2400"/>
              <a:t>CRUD, t-strings og hvorfor f-strings er farlige</a:t>
            </a:r>
          </a:p>
        </p:txBody>
      </p:sp>
      <p:sp>
        <p:nvSpPr>
          <p:cNvPr id="4" name="Oval 3"/>
          <p:cNvSpPr/>
          <p:nvPr/>
        </p:nvSpPr>
        <p:spPr>
          <a:xfrm>
            <a:off x="731519" y="1463039"/>
            <a:ext cx="853439" cy="853439"/>
          </a:xfrm>
          <a:prstGeom prst="ellipse">
            <a:avLst/>
          </a:prstGeom>
          <a:solidFill>
            <a:srgbClr val="FE4C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1463039"/>
            <a:ext cx="853439" cy="8534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CRUD: de fire grundlæggende operationer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280160"/>
            <a:ext cx="11460480" cy="4913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463039"/>
            <a:ext cx="5364480" cy="1706879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3439" y="1706879"/>
            <a:ext cx="609600" cy="609600"/>
          </a:xfrm>
          <a:prstGeom prst="ellipse">
            <a:avLst/>
          </a:prstGeom>
          <a:solidFill>
            <a:srgbClr val="1F8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39" y="1706879"/>
            <a:ext cx="6096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706879"/>
            <a:ext cx="4023359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60" b="1" i="0">
                <a:solidFill>
                  <a:srgbClr val="0038A8"/>
                </a:solidFill>
                <a:latin typeface="Aptos Serif"/>
              </a:rPr>
              <a:t>Create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316480"/>
            <a:ext cx="4206240" cy="7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INSERT INTO patient (first_name, age)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VALUES ('Anna', 45)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RETURNING patient_id;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19" y="1463039"/>
            <a:ext cx="5364480" cy="1706879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61760" y="1706879"/>
            <a:ext cx="609600" cy="609600"/>
          </a:xfrm>
          <a:prstGeom prst="ellipse">
            <a:avLst/>
          </a:prstGeom>
          <a:solidFill>
            <a:srgbClr val="1F8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1760" y="1706879"/>
            <a:ext cx="6096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54239" y="1706879"/>
            <a:ext cx="4023359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60" b="1" i="0">
                <a:solidFill>
                  <a:srgbClr val="0038A8"/>
                </a:solidFill>
                <a:latin typeface="Aptos Serif"/>
              </a:rPr>
              <a:t>Read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54239" y="2316480"/>
            <a:ext cx="4206240" cy="7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SELECT * FROM patient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WHERE patient_id = 1;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3413759"/>
            <a:ext cx="5364480" cy="1706879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53439" y="3657600"/>
            <a:ext cx="609600" cy="609600"/>
          </a:xfrm>
          <a:prstGeom prst="ellipse">
            <a:avLst/>
          </a:prstGeom>
          <a:solidFill>
            <a:srgbClr val="FE4C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3439" y="3657600"/>
            <a:ext cx="6096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657600"/>
            <a:ext cx="4023359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60" b="1" i="0">
                <a:solidFill>
                  <a:srgbClr val="0038A8"/>
                </a:solidFill>
                <a:latin typeface="Aptos Serif"/>
              </a:rPr>
              <a:t>Update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267199"/>
            <a:ext cx="4206240" cy="7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UPDATE patient SET age = 46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WHERE patient_id = 1;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19" y="3413759"/>
            <a:ext cx="5364480" cy="1706879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61760" y="3657600"/>
            <a:ext cx="609600" cy="609600"/>
          </a:xfrm>
          <a:prstGeom prst="ellipse">
            <a:avLst/>
          </a:prstGeom>
          <a:solidFill>
            <a:srgbClr val="FE4C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1760" y="3657600"/>
            <a:ext cx="6096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54239" y="3657600"/>
            <a:ext cx="4023359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60" b="1" i="0">
                <a:solidFill>
                  <a:srgbClr val="0038A8"/>
                </a:solidFill>
                <a:latin typeface="Aptos Serif"/>
              </a:rPr>
              <a:t>Delete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54239" y="4267199"/>
            <a:ext cx="4206240" cy="7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DELETE FROM patient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WHERE patient_id = 1;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600" y="5486400"/>
            <a:ext cx="10972800" cy="731519"/>
          </a:xfrm>
          <a:prstGeom prst="rect">
            <a:avLst/>
          </a:prstGeom>
          <a:solidFill>
            <a:srgbClr val="FD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3439" y="5486400"/>
            <a:ext cx="10485119" cy="7315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1" i="0">
                <a:solidFill>
                  <a:srgbClr val="C0392B"/>
                </a:solidFill>
                <a:latin typeface="Calibri"/>
              </a:rPr>
              <a:t>Advarsel: </a:t>
            </a:r>
            <a:r>
              <a:rPr sz="1866" b="0" i="0">
                <a:solidFill>
                  <a:srgbClr val="333333"/>
                </a:solidFill>
                <a:latin typeface="Calibri"/>
              </a:rPr>
              <a:t>UPDATE eller DELETE uden WHERE ændrer alle rækker. Skriv WHERE først.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psycopg 3: Python ↔ PostgreSQL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FFFFFF"/>
                </a:solidFill>
                <a:latin typeface="Calibri"/>
              </a:rPr>
              <a:t>connection → execute → cursor → fetch · with-blokken committer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889759"/>
            <a:ext cx="2438400" cy="853439"/>
          </a:xfrm>
          <a:prstGeom prst="rect">
            <a:avLst/>
          </a:prstGeom>
          <a:solidFill>
            <a:srgbClr val="E3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1889759"/>
            <a:ext cx="2438400" cy="8534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0038A8"/>
                </a:solidFill>
                <a:latin typeface="Courier New"/>
              </a:rPr>
              <a:t>connect()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096768" y="2170175"/>
            <a:ext cx="268224" cy="292607"/>
          </a:xfrm>
          <a:prstGeom prst="rightArrow">
            <a:avLst/>
          </a:prstGeom>
          <a:solidFill>
            <a:srgbClr val="FE4C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13759" y="1889759"/>
            <a:ext cx="2438400" cy="853439"/>
          </a:xfrm>
          <a:prstGeom prst="rect">
            <a:avLst/>
          </a:prstGeom>
          <a:solidFill>
            <a:srgbClr val="E3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3759" y="1889759"/>
            <a:ext cx="2438400" cy="8534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0038A8"/>
                </a:solidFill>
                <a:latin typeface="Courier New"/>
              </a:rPr>
              <a:t>execute(query)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900928" y="2170175"/>
            <a:ext cx="268224" cy="292607"/>
          </a:xfrm>
          <a:prstGeom prst="rightArrow">
            <a:avLst/>
          </a:prstGeom>
          <a:solidFill>
            <a:srgbClr val="FE4C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19" y="1889759"/>
            <a:ext cx="2438400" cy="853439"/>
          </a:xfrm>
          <a:prstGeom prst="rect">
            <a:avLst/>
          </a:prstGeom>
          <a:solidFill>
            <a:srgbClr val="003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19" y="1889759"/>
            <a:ext cx="2438400" cy="8534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ourier New"/>
              </a:rPr>
              <a:t>cursor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705088" y="2170175"/>
            <a:ext cx="268224" cy="292607"/>
          </a:xfrm>
          <a:prstGeom prst="rightArrow">
            <a:avLst/>
          </a:prstGeom>
          <a:solidFill>
            <a:srgbClr val="FE4C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022079" y="1889759"/>
            <a:ext cx="2438400" cy="853439"/>
          </a:xfrm>
          <a:prstGeom prst="rect">
            <a:avLst/>
          </a:prstGeom>
          <a:solidFill>
            <a:srgbClr val="E3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22079" y="1889759"/>
            <a:ext cx="2438400" cy="8534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0038A8"/>
                </a:solidFill>
                <a:latin typeface="Courier New"/>
              </a:rPr>
              <a:t>fetchone() / fetchall()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" y="3108959"/>
            <a:ext cx="6583680" cy="2133599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480" y="3255263"/>
            <a:ext cx="6217920" cy="1889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def read_patients() -&gt; list[tuple]: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  with get_connection() as conn: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      cursor = conn.execute(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          "SELECT * FROM patient"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          " ORDER BY patient_id")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      return cursor.fetchall()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3108959"/>
            <a:ext cx="4145280" cy="341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1" i="0">
                <a:solidFill>
                  <a:srgbClr val="1F8A93"/>
                </a:solidFill>
                <a:latin typeface="Courier New"/>
              </a:rPr>
              <a:t>fetchone()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3438144"/>
            <a:ext cx="4145280" cy="341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0" i="0">
                <a:solidFill>
                  <a:srgbClr val="333333"/>
                </a:solidFill>
                <a:latin typeface="Calibri"/>
              </a:rPr>
              <a:t>én tuple, eller None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3840479"/>
            <a:ext cx="4145280" cy="341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1" i="0">
                <a:solidFill>
                  <a:srgbClr val="1F8A93"/>
                </a:solidFill>
                <a:latin typeface="Courier New"/>
              </a:rPr>
              <a:t>fetchall()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4169663"/>
            <a:ext cx="4145280" cy="341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0" i="0">
                <a:solidFill>
                  <a:srgbClr val="333333"/>
                </a:solidFill>
                <a:latin typeface="Calibri"/>
              </a:rPr>
              <a:t>liste af tuples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4572000"/>
            <a:ext cx="4145280" cy="341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1" i="0">
                <a:solidFill>
                  <a:srgbClr val="1F8A93"/>
                </a:solidFill>
                <a:latin typeface="Courier New"/>
              </a:rPr>
              <a:t>rowcount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4901183"/>
            <a:ext cx="4145280" cy="341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0" i="0">
                <a:solidFill>
                  <a:srgbClr val="333333"/>
                </a:solidFill>
                <a:latin typeface="Calibri"/>
              </a:rPr>
              <a:t>rækker ændret af UPDATE/DELETE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5303519"/>
            <a:ext cx="4145280" cy="341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1" i="0">
                <a:solidFill>
                  <a:srgbClr val="1F8A93"/>
                </a:solidFill>
                <a:latin typeface="Courier New"/>
              </a:rPr>
              <a:t>with … as conn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5632703"/>
            <a:ext cx="4145280" cy="341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0" i="0">
                <a:solidFill>
                  <a:srgbClr val="333333"/>
                </a:solidFill>
                <a:latin typeface="Calibri"/>
              </a:rPr>
              <a:t>commit ved succes, rollback ved fejl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Byg aldrig SQL med f-strings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FFFFFF"/>
                </a:solidFill>
                <a:latin typeface="Calibri"/>
              </a:rPr>
              <a:t>SQL injection: data, der bliver til kode</a:t>
            </a:r>
          </a:p>
        </p:txBody>
      </p:sp>
      <p:sp>
        <p:nvSpPr>
          <p:cNvPr id="5" name="Oval 4"/>
          <p:cNvSpPr/>
          <p:nvPr/>
        </p:nvSpPr>
        <p:spPr>
          <a:xfrm>
            <a:off x="609600" y="1767839"/>
            <a:ext cx="548640" cy="5486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1767839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1120" y="1767839"/>
            <a:ext cx="463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80" b="1" i="0">
                <a:solidFill>
                  <a:srgbClr val="C0392B"/>
                </a:solidFill>
                <a:latin typeface="Aptos Serif"/>
              </a:rPr>
              <a:t>f-string: farlig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499359"/>
            <a:ext cx="5364480" cy="134112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480" y="2645664"/>
            <a:ext cx="4998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name = "x' OR '1'='1"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conn.execute(f"SELECT * FROM patient"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         f" WHERE last_name = '{name}'")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023359"/>
            <a:ext cx="536448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0" i="0">
                <a:solidFill>
                  <a:srgbClr val="333333"/>
                </a:solidFill>
                <a:latin typeface="Calibri"/>
              </a:rPr>
              <a:t>f-stringen bliver først til almindelig tekst:</a:t>
            </a:r>
          </a:p>
          <a:p>
            <a:pPr algn="l">
              <a:spcAft>
                <a:spcPts val="0"/>
              </a:spcAft>
            </a:pPr>
            <a:r>
              <a:rPr sz="1733" b="0" i="0">
                <a:solidFill>
                  <a:srgbClr val="333333"/>
                </a:solidFill>
                <a:latin typeface="Calibri"/>
              </a:rPr>
              <a:t>… WHERE last_name = 'x' OR '1'='1'</a:t>
            </a:r>
          </a:p>
          <a:p>
            <a:pPr algn="l">
              <a:spcAft>
                <a:spcPts val="0"/>
              </a:spcAft>
            </a:pPr>
            <a:r>
              <a:rPr sz="1733" b="0" i="0">
                <a:solidFill>
                  <a:srgbClr val="333333"/>
                </a:solidFill>
                <a:latin typeface="Calibri"/>
              </a:rPr>
              <a:t>og alle patienter kommer tilbage.</a:t>
            </a:r>
          </a:p>
        </p:txBody>
      </p:sp>
      <p:sp>
        <p:nvSpPr>
          <p:cNvPr id="11" name="Oval 10"/>
          <p:cNvSpPr/>
          <p:nvPr/>
        </p:nvSpPr>
        <p:spPr>
          <a:xfrm>
            <a:off x="6217919" y="1767839"/>
            <a:ext cx="548640" cy="54864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19" y="1767839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39" y="1767839"/>
            <a:ext cx="463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80" b="1" i="0">
                <a:solidFill>
                  <a:srgbClr val="2E8B57"/>
                </a:solidFill>
                <a:latin typeface="Aptos Serif"/>
              </a:rPr>
              <a:t>t-string: sikker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19" y="2499359"/>
            <a:ext cx="5364480" cy="134112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645664"/>
            <a:ext cx="4998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name = "x' OR '1'='1"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conn.execute(t"SELECT * FROM patient"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         t" WHERE last_name = {name}")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19" y="4023359"/>
            <a:ext cx="536448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0" i="0">
                <a:solidFill>
                  <a:srgbClr val="333333"/>
                </a:solidFill>
                <a:latin typeface="Calibri"/>
              </a:rPr>
              <a:t>psycopg sender {name} som en separat parameter.</a:t>
            </a:r>
          </a:p>
          <a:p>
            <a:pPr algn="l">
              <a:spcAft>
                <a:spcPts val="0"/>
              </a:spcAft>
            </a:pPr>
            <a:r>
              <a:rPr sz="1733" b="0" i="0">
                <a:solidFill>
                  <a:srgbClr val="333333"/>
                </a:solidFill>
                <a:latin typeface="Calibri"/>
              </a:rPr>
              <a:t>Den er altid kun data, aldrig SQL.</a:t>
            </a:r>
          </a:p>
          <a:p>
            <a:pPr algn="l">
              <a:spcAft>
                <a:spcPts val="0"/>
              </a:spcAft>
            </a:pPr>
            <a:r>
              <a:rPr sz="1733" b="0" i="0">
                <a:solidFill>
                  <a:srgbClr val="333333"/>
                </a:solidFill>
                <a:latin typeface="Calibri"/>
              </a:rPr>
              <a:t>Intet kommer tilbage.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5608320"/>
            <a:ext cx="109728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0" i="1">
                <a:solidFill>
                  <a:srgbClr val="5F6B73"/>
                </a:solidFill>
                <a:latin typeface="Calibri"/>
              </a:rPr>
              <a:t>SQL injection er et af de mest almindelige sikkerhedshuller på nettet. Se OWASP i læselisten.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t-strings: template strings i Python 3.14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FFFFFF"/>
                </a:solidFill>
                <a:latin typeface="Calibri"/>
              </a:rPr>
              <a:t>De ligner f-strings, men tekst og værdier forbliver adskilt (PEP 750)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828800"/>
            <a:ext cx="6461760" cy="286512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480" y="1975104"/>
            <a:ext cx="6095999" cy="2621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&gt;&gt;&gt; name = "Holm"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&gt;&gt;&gt; f"WHERE last_name = {name}"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'WHERE last_name = Holm'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&gt;&gt;&gt; template = t"WHERE last_name = {name}"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&gt;&gt;&gt; template.strings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('WHERE last_name = ', '')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&gt;&gt;&gt; template.values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('Holm',)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76160" y="1828800"/>
            <a:ext cx="4206240" cy="1280160"/>
          </a:xfrm>
          <a:prstGeom prst="rect">
            <a:avLst/>
          </a:prstGeom>
          <a:solidFill>
            <a:srgbClr val="E3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9039" y="1950720"/>
            <a:ext cx="384048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0038A8"/>
                </a:solidFill>
                <a:latin typeface="Aptos Serif"/>
              </a:rPr>
              <a:t>f"…" → str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59039" y="2340863"/>
            <a:ext cx="384048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Værdien bliver bagt ind i teksten med det samme.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76160" y="3352800"/>
            <a:ext cx="4206240" cy="1280160"/>
          </a:xfrm>
          <a:prstGeom prst="rect">
            <a:avLst/>
          </a:prstGeom>
          <a:solidFill>
            <a:srgbClr val="E3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59039" y="3474720"/>
            <a:ext cx="384048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0038A8"/>
                </a:solidFill>
                <a:latin typeface="Aptos Serif"/>
              </a:rPr>
              <a:t>t"…" → Template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59039" y="3864864"/>
            <a:ext cx="384048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psycopg 3.3+ sender hver {value} som en parameter.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937759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66" b="1" i="0">
                <a:solidFill>
                  <a:srgbClr val="0038A8"/>
                </a:solidFill>
                <a:latin typeface="Calibri"/>
              </a:rPr>
              <a:t>Hvorfor vi bruger dem: </a:t>
            </a:r>
            <a:r>
              <a:rPr sz="1866" b="0" i="0">
                <a:solidFill>
                  <a:srgbClr val="333333"/>
                </a:solidFill>
                <a:latin typeface="Calibri"/>
              </a:rPr>
              <a:t>værdien står, hvor den bruges, uden at tælle %s, uden tuple-rækkefølge at matche og uden (x,)-fælden.</a:t>
            </a:r>
          </a:p>
          <a:p>
            <a:pPr algn="l">
              <a:spcAft>
                <a:spcPts val="800"/>
              </a:spcAft>
            </a:pPr>
            <a:r>
              <a:rPr sz="1866" b="1" i="0">
                <a:solidFill>
                  <a:srgbClr val="0038A8"/>
                </a:solidFill>
                <a:latin typeface="Calibri"/>
              </a:rPr>
              <a:t>Kræver: </a:t>
            </a:r>
            <a:r>
              <a:rPr sz="1866" b="0" i="0">
                <a:solidFill>
                  <a:srgbClr val="333333"/>
                </a:solidFill>
                <a:latin typeface="Calibri"/>
              </a:rPr>
              <a:t>Python 3.14 og psycopg 3.3 eller nyere.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t-string format specifiers og %s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FFFFFF"/>
                </a:solidFill>
                <a:latin typeface="Calibri"/>
              </a:rPr>
              <a:t>Det meste af tiden behøver du ingen specifier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600" y="1828800"/>
          <a:ext cx="6096000" cy="2560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804160"/>
                <a:gridCol w="2194560"/>
              </a:tblGrid>
              <a:tr h="512063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Spec</a:t>
                      </a:r>
                    </a:p>
                  </a:txBody>
                  <a:tcPr marL="97536" marR="97536" marT="36575" marB="36575" anchor="ctr">
                    <a:solidFill>
                      <a:srgbClr val="0038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Betydning</a:t>
                      </a:r>
                    </a:p>
                  </a:txBody>
                  <a:tcPr marL="97536" marR="97536" marT="36575" marB="36575" anchor="ctr">
                    <a:solidFill>
                      <a:srgbClr val="0038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Eksempel</a:t>
                      </a:r>
                    </a:p>
                  </a:txBody>
                  <a:tcPr marL="97536" marR="97536" marT="36575" marB="36575" anchor="ctr">
                    <a:solidFill>
                      <a:srgbClr val="0038A8"/>
                    </a:solidFill>
                  </a:tcPr>
                </a:tc>
              </a:tr>
              <a:tr h="512063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ourier New"/>
                        </a:rPr>
                        <a:t>ingen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værdi → parameter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ourier New"/>
                        </a:rPr>
                        <a:t>{age}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</a:tr>
              <a:tr h="512063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ourier New"/>
                        </a:rPr>
                        <a:t>:i</a:t>
                      </a:r>
                    </a:p>
                  </a:txBody>
                  <a:tcPr marL="97536" marR="97536" marT="36575" marB="36575" anchor="ctr">
                    <a:solidFill>
                      <a:srgbClr val="E3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identifier: tabel/kolonne</a:t>
                      </a:r>
                    </a:p>
                  </a:txBody>
                  <a:tcPr marL="97536" marR="97536" marT="36575" marB="36575" anchor="ctr">
                    <a:solidFill>
                      <a:srgbClr val="E3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ourier New"/>
                        </a:rPr>
                        <a:t>{column:i}</a:t>
                      </a:r>
                    </a:p>
                  </a:txBody>
                  <a:tcPr marL="97536" marR="97536" marT="36575" marB="36575" anchor="ctr">
                    <a:solidFill>
                      <a:srgbClr val="E3EAF7"/>
                    </a:solidFill>
                  </a:tcPr>
                </a:tc>
              </a:tr>
              <a:tr h="512063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ourier New"/>
                        </a:rPr>
                        <a:t>:l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literal, flettet på klienten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ourier New"/>
                        </a:rPr>
                        <a:t>{payload:l}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</a:tr>
              <a:tr h="512063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ourier New"/>
                        </a:rPr>
                        <a:t>:q</a:t>
                      </a:r>
                    </a:p>
                  </a:txBody>
                  <a:tcPr marL="97536" marR="97536" marT="36575" marB="36575" anchor="ctr">
                    <a:solidFill>
                      <a:srgbClr val="E3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et stykke SQL</a:t>
                      </a:r>
                    </a:p>
                  </a:txBody>
                  <a:tcPr marL="97536" marR="97536" marT="36575" marB="36575" anchor="ctr">
                    <a:solidFill>
                      <a:srgbClr val="E3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ourier New"/>
                        </a:rPr>
                        <a:t>{where:q}</a:t>
                      </a:r>
                    </a:p>
                  </a:txBody>
                  <a:tcPr marL="97536" marR="97536" marT="36575" marB="36575" anchor="ctr">
                    <a:solidFill>
                      <a:srgbClr val="E3EA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600" y="4572000"/>
            <a:ext cx="6095999" cy="1584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0" i="0">
                <a:solidFill>
                  <a:srgbClr val="C0392B"/>
                </a:solidFill>
                <a:latin typeface="Calibri"/>
              </a:rPr>
              <a:t>⚠️ En værdi kan aldrig være et kolonnenavn. ORDER BY {column} fejler. Brug {column:i}, og kun med navne fra en allow-list.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71359" y="1828800"/>
            <a:ext cx="4511040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20" b="1" i="0">
                <a:solidFill>
                  <a:srgbClr val="0038A8"/>
                </a:solidFill>
                <a:latin typeface="Aptos Serif"/>
              </a:rPr>
              <a:t>Den klassiske måde: %s</a:t>
            </a:r>
          </a:p>
        </p:txBody>
      </p:sp>
      <p:sp>
        <p:nvSpPr>
          <p:cNvPr id="8" name="Rectangle 7"/>
          <p:cNvSpPr/>
          <p:nvPr/>
        </p:nvSpPr>
        <p:spPr>
          <a:xfrm>
            <a:off x="7071359" y="2377439"/>
            <a:ext cx="4511040" cy="121920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54240" y="2523744"/>
            <a:ext cx="4145280" cy="975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conn.execute(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"… WHERE last_name = %s",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(name,))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71359" y="3779519"/>
            <a:ext cx="4511040" cy="2316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33" b="0" i="0">
                <a:solidFill>
                  <a:srgbClr val="333333"/>
                </a:solidFill>
                <a:latin typeface="Calibri"/>
              </a:rPr>
              <a:t>Værdier skrives i en tuple, i samme rækkefølge som %s.</a:t>
            </a:r>
          </a:p>
          <a:p>
            <a:pPr algn="l">
              <a:spcAft>
                <a:spcPts val="800"/>
              </a:spcAft>
            </a:pPr>
            <a:r>
              <a:rPr sz="1733" b="0" i="0">
                <a:solidFill>
                  <a:srgbClr val="333333"/>
                </a:solidFill>
                <a:latin typeface="Calibri"/>
              </a:rPr>
              <a:t>Én værdi kræver et komma: </a:t>
            </a:r>
            <a:r>
              <a:rPr sz="1733" b="1" i="0">
                <a:solidFill>
                  <a:srgbClr val="2E8B57"/>
                </a:solidFill>
                <a:latin typeface="Courier New"/>
              </a:rPr>
              <a:t>(name,)</a:t>
            </a:r>
          </a:p>
          <a:p>
            <a:pPr algn="l">
              <a:spcAft>
                <a:spcPts val="800"/>
              </a:spcAft>
            </a:pPr>
            <a:r>
              <a:rPr sz="1733" b="1" i="0">
                <a:solidFill>
                  <a:srgbClr val="0038A8"/>
                </a:solidFill>
                <a:latin typeface="Calibri"/>
              </a:rPr>
              <a:t>Du skal bruge %s til executemany().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executemany(): én SQL, mange rækker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FFFFFF"/>
                </a:solidFill>
                <a:latin typeface="Calibri"/>
              </a:rPr>
              <a:t>Samme statement, kørt én gang per tuple i en liste, i én transaction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889759"/>
            <a:ext cx="6827519" cy="2133599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480" y="2036064"/>
            <a:ext cx="6461760" cy="1889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rows = [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("Kevin", "Holm", 34, "O+", None),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("Lone", "Kellerman", 66, "A+", "Peanuts"),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]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with get_connection() as conn, conn.cursor() as cur: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  cur.executemany(INSERT_SQL, rows)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4267199"/>
            <a:ext cx="6827519" cy="109728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480" y="4413504"/>
            <a:ext cx="6461760" cy="853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cur.executemany("UPDATE … SET age = %s WHERE patient_id = %s",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            [(35, 1), (67, 2)])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cur.executemany("DELETE … WHERE patient_id = %s", [(3,), (4,)])</a:t>
            </a:r>
          </a:p>
        </p:txBody>
      </p:sp>
      <p:sp>
        <p:nvSpPr>
          <p:cNvPr id="9" name="Rectangle 8"/>
          <p:cNvSpPr/>
          <p:nvPr/>
        </p:nvSpPr>
        <p:spPr>
          <a:xfrm>
            <a:off x="7741919" y="1889759"/>
            <a:ext cx="3840479" cy="1158240"/>
          </a:xfrm>
          <a:prstGeom prst="rect">
            <a:avLst/>
          </a:prstGeom>
          <a:solidFill>
            <a:srgbClr val="E3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4799" y="2011680"/>
            <a:ext cx="34747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0038A8"/>
                </a:solidFill>
                <a:latin typeface="Aptos Serif"/>
              </a:rPr>
              <a:t>Hvorfor %s, ikke t"…"?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4799" y="2401824"/>
            <a:ext cx="3474720" cy="5730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En t-string holder værdierne for én række. executemany skal bruge tomme pladser.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41919" y="3169920"/>
            <a:ext cx="3840479" cy="1158240"/>
          </a:xfrm>
          <a:prstGeom prst="rect">
            <a:avLst/>
          </a:prstGeom>
          <a:solidFill>
            <a:srgbClr val="E3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4799" y="3291840"/>
            <a:ext cx="34747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0038A8"/>
                </a:solidFill>
                <a:latin typeface="Aptos Serif"/>
              </a:rPr>
              <a:t>På cursoren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4799" y="3681983"/>
            <a:ext cx="3474720" cy="5730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conn.cursor(), ikke conn.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41919" y="4450080"/>
            <a:ext cx="3840479" cy="1158240"/>
          </a:xfrm>
          <a:prstGeom prst="rect">
            <a:avLst/>
          </a:prstGeom>
          <a:solidFill>
            <a:srgbClr val="E3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24799" y="4572000"/>
            <a:ext cx="34747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0038A8"/>
                </a:solidFill>
                <a:latin typeface="Aptos Serif"/>
              </a:rPr>
              <a:t>Alt eller intet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4799" y="4962144"/>
            <a:ext cx="3474720" cy="5730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række 500 fejler → række 1–499 rulles tilbage.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19" y="2499359"/>
            <a:ext cx="10728960" cy="1097280"/>
          </a:xfrm>
        </p:spPr>
        <p:txBody>
          <a:bodyPr wrap="square" anchor="b" lIns="0" rIns="0" tIns="0" bIns="0"/>
          <a:lstStyle/>
          <a:p>
            <a:r>
              <a:rPr sz="4800"/>
              <a:t>Sådan løser du trin 3–7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19" y="3718560"/>
            <a:ext cx="10728960" cy="731519"/>
          </a:xfrm>
        </p:spPr>
        <p:txBody>
          <a:bodyPr wrap="square" anchor="t" lIns="0" rIns="0" tIns="0" bIns="0"/>
          <a:lstStyle/>
          <a:p>
            <a:r>
              <a:rPr sz="2400"/>
              <a:t>Mønstre, hints og de tjek, du skal kigge efter</a:t>
            </a:r>
          </a:p>
        </p:txBody>
      </p:sp>
      <p:sp>
        <p:nvSpPr>
          <p:cNvPr id="4" name="Oval 3"/>
          <p:cNvSpPr/>
          <p:nvPr/>
        </p:nvSpPr>
        <p:spPr>
          <a:xfrm>
            <a:off x="731519" y="1463039"/>
            <a:ext cx="853439" cy="853439"/>
          </a:xfrm>
          <a:prstGeom prst="ellipse">
            <a:avLst/>
          </a:prstGeom>
          <a:solidFill>
            <a:srgbClr val="FE4C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1463039"/>
            <a:ext cx="853439" cy="8534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Trin 3: forbind fra Python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FFFFFF"/>
                </a:solidFill>
                <a:latin typeface="Calibri"/>
              </a:rPr>
              <a:t>uv run db.py → Forbundet! Server: PostgreSQL 17…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600" y="1828800"/>
          <a:ext cx="10972800" cy="3511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4480"/>
                <a:gridCol w="5608320"/>
              </a:tblGrid>
              <a:tr h="585215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Fejlen indeholder</a:t>
                      </a:r>
                    </a:p>
                  </a:txBody>
                  <a:tcPr marL="97536" marR="97536" marT="36575" marB="36575" anchor="ctr">
                    <a:solidFill>
                      <a:srgbClr val="0038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Løsning</a:t>
                      </a:r>
                    </a:p>
                  </a:txBody>
                  <a:tcPr marL="97536" marR="97536" marT="36575" marB="36575" anchor="ctr">
                    <a:solidFill>
                      <a:srgbClr val="0038A8"/>
                    </a:solidFill>
                  </a:tcPr>
                </a:tc>
              </a:tr>
              <a:tr h="585215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ourier New"/>
                        </a:rPr>
                        <a:t>password authentication failed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forkert password i DATABASE_URL i db.py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</a:tr>
              <a:tr h="585215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ourier New"/>
                        </a:rPr>
                        <a:t>database "sundhedsapp" does not exist</a:t>
                      </a:r>
                    </a:p>
                  </a:txBody>
                  <a:tcPr marL="97536" marR="97536" marT="36575" marB="36575" anchor="ctr">
                    <a:solidFill>
                      <a:srgbClr val="E3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opret databasen i pgAdmin (P2)</a:t>
                      </a:r>
                    </a:p>
                  </a:txBody>
                  <a:tcPr marL="97536" marR="97536" marT="36575" marB="36575" anchor="ctr">
                    <a:solidFill>
                      <a:srgbClr val="E3EAF7"/>
                    </a:solidFill>
                  </a:tcPr>
                </a:tc>
              </a:tr>
              <a:tr h="585215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ourier New"/>
                        </a:rPr>
                        <a:t>Connection refused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start PostgreSQL-servicen i Windows Services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</a:tr>
              <a:tr h="585215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ourier New"/>
                        </a:rPr>
                        <a:t>No module named 'psycopg'</a:t>
                      </a:r>
                    </a:p>
                  </a:txBody>
                  <a:tcPr marL="97536" marR="97536" marT="36575" marB="36575" anchor="ctr">
                    <a:solidFill>
                      <a:srgbClr val="E3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kør uv sync, og kør med uv run</a:t>
                      </a:r>
                    </a:p>
                  </a:txBody>
                  <a:tcPr marL="97536" marR="97536" marT="36575" marB="36575" anchor="ctr">
                    <a:solidFill>
                      <a:srgbClr val="E3EAF7"/>
                    </a:solidFill>
                  </a:tcPr>
                </a:tc>
              </a:tr>
              <a:tr h="585215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ourier New"/>
                        </a:rPr>
                        <a:t>SyntaxError ved t"…"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Python er ældre end 3.14: tjek python --version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Trin 4: create_patient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FFFFFF"/>
                </a:solidFill>
                <a:latin typeface="Calibri"/>
              </a:rPr>
              <a:t>4.2 gør VALUES færdig · 4.3 kør og returnér id'et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828800"/>
            <a:ext cx="6583680" cy="335280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480" y="1975104"/>
            <a:ext cx="6217920" cy="3108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query = t"""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  INSERT INTO patient (first_name, last_name,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                       age, blood_type, allergies)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  VALUES ({first_name}, {last_name},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          {age}, {blood_type}, {allergies})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  RETURNING patient_id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"""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with get_connection() as conn: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  row = conn.execute(query).fetchone()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return row[0]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79" y="1828800"/>
            <a:ext cx="4084320" cy="1219200"/>
          </a:xfrm>
          <a:prstGeom prst="rect">
            <a:avLst/>
          </a:prstGeom>
          <a:solidFill>
            <a:srgbClr val="E3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950720"/>
            <a:ext cx="371856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0038A8"/>
                </a:solidFill>
                <a:latin typeface="Aptos Serif"/>
              </a:rPr>
              <a:t>Samme rækkefølge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2340863"/>
            <a:ext cx="3718560" cy="633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{values} følger rækkefølgen i kolonnelisten.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3352800"/>
            <a:ext cx="4084320" cy="1219200"/>
          </a:xfrm>
          <a:prstGeom prst="rect">
            <a:avLst/>
          </a:prstGeom>
          <a:solidFill>
            <a:srgbClr val="E3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3474720"/>
            <a:ext cx="371856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0038A8"/>
                </a:solidFill>
                <a:latin typeface="Aptos Serif"/>
              </a:rPr>
              <a:t>fetchone() → (5,)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3864864"/>
            <a:ext cx="3718560" cy="633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RETURNING giver én række med én værdi. row[0] er id'et.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4876800"/>
            <a:ext cx="4084320" cy="1219200"/>
          </a:xfrm>
          <a:prstGeom prst="rect">
            <a:avLst/>
          </a:prstGeom>
          <a:solidFill>
            <a:srgbClr val="E3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4998719"/>
            <a:ext cx="371856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0038A8"/>
                </a:solidFill>
                <a:latin typeface="Aptos Serif"/>
              </a:rPr>
              <a:t>4.4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5388863"/>
            <a:ext cx="3718560" cy="633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NotImplementedError: trin 4.5 betyder, at 4.2–4.3 virker.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Trin 4.5 og 5: read, update, delete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FFFFFF"/>
                </a:solidFill>
                <a:latin typeface="Calibri"/>
              </a:rPr>
              <a:t>Ét mønster, tre funktioner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828800"/>
            <a:ext cx="6827519" cy="140208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480" y="1975104"/>
            <a:ext cx="6461760" cy="1158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with get_connection() as conn: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return conn.execute(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    t"SELECT * FROM patient"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    t" WHERE patient_id = {patient_id}").fetchone()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3413759"/>
            <a:ext cx="6827519" cy="164592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480" y="3560064"/>
            <a:ext cx="6461760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with get_connection() as conn: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cursor = conn.execute(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    t"UPDATE patient SET age = {age}"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    t" WHERE patient_id = {patient_id}")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return cursor.rowcount ==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242559"/>
            <a:ext cx="6827519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0" i="1">
                <a:solidFill>
                  <a:srgbClr val="1F8A93"/>
                </a:solidFill>
                <a:latin typeface="Calibri"/>
              </a:rPr>
              <a:t>5.2 delete_patient: det samme som update, med DELETE.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41919" y="1828800"/>
            <a:ext cx="3840479" cy="1158240"/>
          </a:xfrm>
          <a:prstGeom prst="rect">
            <a:avLst/>
          </a:prstGeom>
          <a:solidFill>
            <a:srgbClr val="E3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4799" y="1950720"/>
            <a:ext cx="34747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0038A8"/>
                </a:solidFill>
                <a:latin typeface="Aptos Serif"/>
              </a:rPr>
              <a:t>fetchone()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4799" y="2340863"/>
            <a:ext cx="3474720" cy="5730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en tuple, eller None når id'et ikke findes.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41919" y="3169919"/>
            <a:ext cx="3840479" cy="1158240"/>
          </a:xfrm>
          <a:prstGeom prst="rect">
            <a:avLst/>
          </a:prstGeom>
          <a:solidFill>
            <a:srgbClr val="E3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4799" y="3291839"/>
            <a:ext cx="34747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0038A8"/>
                </a:solidFill>
                <a:latin typeface="Aptos Serif"/>
              </a:rPr>
              <a:t>rowcount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4799" y="3681983"/>
            <a:ext cx="3474720" cy="5730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1 hvis en række blev ændret, 0 hvis id'et ikke fandtes.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41919" y="4511039"/>
            <a:ext cx="3840479" cy="1158240"/>
          </a:xfrm>
          <a:prstGeom prst="rect">
            <a:avLst/>
          </a:prstGeom>
          <a:solidFill>
            <a:srgbClr val="E3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4799" y="4632960"/>
            <a:ext cx="34747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0038A8"/>
                </a:solidFill>
                <a:latin typeface="Aptos Serif"/>
              </a:rPr>
              <a:t>Efter with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4799" y="5023104"/>
            <a:ext cx="3474720" cy="5730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Commit sker, når with-blokken slutter.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Trin 6: lad databasen sige nej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FFFFFF"/>
                </a:solidFill>
                <a:latin typeface="Calibri"/>
              </a:rPr>
              <a:t>Fang fejlen, log den, og fortsæt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828800"/>
            <a:ext cx="6827519" cy="164592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480" y="1975104"/>
            <a:ext cx="6461760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try: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  create_patient("Test", "Person", 30, "X+")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except CheckViolation as error: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  logger.warning("Afvist af databasen: %s",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                 error.diag.message_primary)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023359"/>
            <a:ext cx="6827519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0038A8"/>
                </a:solidFill>
                <a:latin typeface="Aptos Serif"/>
              </a:rPr>
              <a:t>Output: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4511040"/>
            <a:ext cx="10972800" cy="91440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480" y="4657344"/>
            <a:ext cx="10607039" cy="67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Afvist af databasen: new row for relation "patient" violates check constraint "patient_blood_type_check"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41919" y="1828800"/>
            <a:ext cx="3840479" cy="1158240"/>
          </a:xfrm>
          <a:prstGeom prst="rect">
            <a:avLst/>
          </a:prstGeom>
          <a:solidFill>
            <a:srgbClr val="E3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4799" y="1950720"/>
            <a:ext cx="34747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0038A8"/>
                </a:solidFill>
                <a:latin typeface="Aptos Serif"/>
              </a:rPr>
              <a:t>Specifik exception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4799" y="2340863"/>
            <a:ext cx="3474720" cy="5730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Fang CheckViolation, ikke alle Exceptions.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41919" y="3169919"/>
            <a:ext cx="3840479" cy="1158240"/>
          </a:xfrm>
          <a:prstGeom prst="rect">
            <a:avLst/>
          </a:prstGeom>
          <a:solidFill>
            <a:srgbClr val="E3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4799" y="3291839"/>
            <a:ext cx="34747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0038A8"/>
                </a:solidFill>
                <a:latin typeface="Aptos Serif"/>
              </a:rPr>
              <a:t>Diskutér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4799" y="3681983"/>
            <a:ext cx="3474720" cy="5730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Skal reglen ligge i API'et, i databasen eller begge steder?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Trin 7: fra API'et i lektion 4 til PostgreSQL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FFFFFF"/>
                </a:solidFill>
                <a:latin typeface="Calibri"/>
              </a:rPr>
              <a:t>Hent patienterne med dit bearer token, rens dem, og indsæt med executemany()</a:t>
            </a:r>
          </a:p>
        </p:txBody>
      </p:sp>
      <p:sp>
        <p:nvSpPr>
          <p:cNvPr id="5" name="Oval 4"/>
          <p:cNvSpPr/>
          <p:nvPr/>
        </p:nvSpPr>
        <p:spPr>
          <a:xfrm>
            <a:off x="1560576" y="1950720"/>
            <a:ext cx="548640" cy="548640"/>
          </a:xfrm>
          <a:prstGeom prst="ellipse">
            <a:avLst/>
          </a:prstGeom>
          <a:solidFill>
            <a:srgbClr val="1F8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60576" y="19507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682240"/>
            <a:ext cx="2438400" cy="1463039"/>
          </a:xfrm>
          <a:prstGeom prst="rect">
            <a:avLst/>
          </a:prstGeom>
          <a:solidFill>
            <a:srgbClr val="E3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280416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0038A8"/>
                </a:solidFill>
                <a:latin typeface="Courier New"/>
              </a:rPr>
              <a:t>POST /token/1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413759"/>
            <a:ext cx="219456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få "Bearer eyJ…"</a:t>
            </a:r>
          </a:p>
        </p:txBody>
      </p:sp>
      <p:sp>
        <p:nvSpPr>
          <p:cNvPr id="10" name="Oval 9"/>
          <p:cNvSpPr/>
          <p:nvPr/>
        </p:nvSpPr>
        <p:spPr>
          <a:xfrm>
            <a:off x="4364736" y="1950720"/>
            <a:ext cx="548640" cy="548640"/>
          </a:xfrm>
          <a:prstGeom prst="ellipse">
            <a:avLst/>
          </a:prstGeom>
          <a:solidFill>
            <a:srgbClr val="1F8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64736" y="19507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13759" y="2682240"/>
            <a:ext cx="2438400" cy="1463039"/>
          </a:xfrm>
          <a:prstGeom prst="rect">
            <a:avLst/>
          </a:prstGeom>
          <a:solidFill>
            <a:srgbClr val="E3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35679" y="280416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0038A8"/>
                </a:solidFill>
                <a:latin typeface="Courier New"/>
              </a:rPr>
              <a:t>GET /health_data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5679" y="3413759"/>
            <a:ext cx="219456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header: Authorization</a:t>
            </a:r>
          </a:p>
        </p:txBody>
      </p:sp>
      <p:sp>
        <p:nvSpPr>
          <p:cNvPr id="15" name="Oval 14"/>
          <p:cNvSpPr/>
          <p:nvPr/>
        </p:nvSpPr>
        <p:spPr>
          <a:xfrm>
            <a:off x="7168896" y="1950720"/>
            <a:ext cx="548640" cy="548640"/>
          </a:xfrm>
          <a:prstGeom prst="ellipse">
            <a:avLst/>
          </a:prstGeom>
          <a:solidFill>
            <a:srgbClr val="FE4C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68896" y="19507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19" y="2682240"/>
            <a:ext cx="2438400" cy="1463039"/>
          </a:xfrm>
          <a:prstGeom prst="rect">
            <a:avLst/>
          </a:prstGeom>
          <a:solidFill>
            <a:srgbClr val="E3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9839" y="280416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0038A8"/>
                </a:solidFill>
                <a:latin typeface="Courier New"/>
              </a:rPr>
              <a:t>to_row()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9839" y="3413759"/>
            <a:ext cx="219456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false / 'No' → NULL</a:t>
            </a:r>
          </a:p>
        </p:txBody>
      </p:sp>
      <p:sp>
        <p:nvSpPr>
          <p:cNvPr id="20" name="Oval 19"/>
          <p:cNvSpPr/>
          <p:nvPr/>
        </p:nvSpPr>
        <p:spPr>
          <a:xfrm>
            <a:off x="9973056" y="1950720"/>
            <a:ext cx="548640" cy="548640"/>
          </a:xfrm>
          <a:prstGeom prst="ellipse">
            <a:avLst/>
          </a:prstGeom>
          <a:solidFill>
            <a:srgbClr val="1F8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73056" y="19507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22079" y="2682240"/>
            <a:ext cx="2438400" cy="1463039"/>
          </a:xfrm>
          <a:prstGeom prst="rect">
            <a:avLst/>
          </a:prstGeom>
          <a:solidFill>
            <a:srgbClr val="003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3999" y="280416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ourier New"/>
              </a:rPr>
              <a:t>executemany()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3999" y="3413759"/>
            <a:ext cx="219456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D6E0F5"/>
                </a:solidFill>
                <a:latin typeface="Calibri"/>
              </a:rPr>
              <a:t>INSERT alle rækker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4572000"/>
            <a:ext cx="10972800" cy="146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66" b="1" i="0">
                <a:solidFill>
                  <a:srgbClr val="FE4C61"/>
                </a:solidFill>
                <a:latin typeface="Calibri"/>
              </a:rPr>
              <a:t>7.1 </a:t>
            </a:r>
            <a:r>
              <a:rPr sz="1866" b="0" i="0">
                <a:solidFill>
                  <a:srgbClr val="333333"/>
                </a:solidFill>
                <a:latin typeface="Calibri"/>
              </a:rPr>
              <a:t>Start appen fra lektion 4: flask run (anden terminal)</a:t>
            </a:r>
          </a:p>
          <a:p>
            <a:pPr algn="l">
              <a:spcAft>
                <a:spcPts val="800"/>
              </a:spcAft>
            </a:pPr>
            <a:r>
              <a:rPr sz="1866" b="1" i="0">
                <a:solidFill>
                  <a:srgbClr val="FE4C61"/>
                </a:solidFill>
                <a:latin typeface="Calibri"/>
              </a:rPr>
              <a:t>7.2 </a:t>
            </a:r>
            <a:r>
              <a:rPr sz="1866" b="0" i="0">
                <a:solidFill>
                  <a:srgbClr val="333333"/>
                </a:solidFill>
                <a:latin typeface="Calibri"/>
              </a:rPr>
              <a:t>Prøv det i browseren: http://127.0.0.1:5000/docs → Authorize</a:t>
            </a:r>
          </a:p>
          <a:p>
            <a:pPr algn="l">
              <a:spcAft>
                <a:spcPts val="800"/>
              </a:spcAft>
            </a:pPr>
            <a:r>
              <a:rPr sz="1866" b="1" i="0">
                <a:solidFill>
                  <a:srgbClr val="FE4C61"/>
                </a:solidFill>
                <a:latin typeface="Calibri"/>
              </a:rPr>
              <a:t>7.3 </a:t>
            </a:r>
            <a:r>
              <a:rPr sz="1866" b="0" i="0">
                <a:solidFill>
                  <a:srgbClr val="333333"/>
                </a:solidFill>
                <a:latin typeface="Calibri"/>
              </a:rPr>
              <a:t>Læs de færdige funktioner i bulk.py, før du skriver dine egne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Trin 7: de tre funktioner, du skriver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FFFFFF"/>
                </a:solidFill>
                <a:latin typeface="Calibri"/>
              </a:rPr>
              <a:t>7.4–7.5 fetch_patients · 7.7 update_ages · 7.8 delete_patients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828800"/>
            <a:ext cx="10972800" cy="1463039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480" y="1975104"/>
            <a:ext cx="10607039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headers = {"Authorization": token}        # token er allerede "Bearer …"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response = requests.get(f"{API_URL}/health_data", headers=headers, timeout=5)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response.raise_for_status()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return response.json()["patients"]["id"]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3535679"/>
            <a:ext cx="6827519" cy="1463039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480" y="3681983"/>
            <a:ext cx="646176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sql = "UPDATE patient SET age = %s WHERE patient_id = %s"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with get_connection() as conn, conn.cursor() as cur: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cur.executemany(sql, changes)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return cur.rowcount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5181599"/>
            <a:ext cx="6827519" cy="731519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480" y="5327904"/>
            <a:ext cx="6461760" cy="487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params = [(patient_id,) for patient_id in patient_ids]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41919" y="3535679"/>
            <a:ext cx="3840479" cy="1097280"/>
          </a:xfrm>
          <a:prstGeom prst="rect">
            <a:avLst/>
          </a:prstGeom>
          <a:solidFill>
            <a:srgbClr val="E3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24799" y="3657600"/>
            <a:ext cx="34747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0038A8"/>
                </a:solidFill>
                <a:latin typeface="Aptos Serif"/>
              </a:rPr>
              <a:t>(new_age, patient_id)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4799" y="4047743"/>
            <a:ext cx="3474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Rækkefølgen i tuplen matcher rækkefølgen af %s.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41919" y="4815840"/>
            <a:ext cx="3840479" cy="1097280"/>
          </a:xfrm>
          <a:prstGeom prst="rect">
            <a:avLst/>
          </a:prstGeom>
          <a:solidFill>
            <a:srgbClr val="E3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4799" y="4937759"/>
            <a:ext cx="34747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0038A8"/>
                </a:solidFill>
                <a:latin typeface="Aptos Serif"/>
              </a:rPr>
              <a:t>[3, 4] → [(3,), (4,)]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4799" y="5327904"/>
            <a:ext cx="3474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executemany skal bruge én tuple per række.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Almindelige fejl og hvad de betyder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280160"/>
            <a:ext cx="11460480" cy="4913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600" y="1463039"/>
          <a:ext cx="10972800" cy="4486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08320"/>
                <a:gridCol w="5364480"/>
              </a:tblGrid>
              <a:tr h="560832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Du ser</a:t>
                      </a:r>
                    </a:p>
                  </a:txBody>
                  <a:tcPr marL="97536" marR="97536" marT="36575" marB="36575" anchor="ctr">
                    <a:solidFill>
                      <a:srgbClr val="0038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Det betyder</a:t>
                      </a:r>
                    </a:p>
                  </a:txBody>
                  <a:tcPr marL="97536" marR="97536" marT="36575" marB="36575" anchor="ctr">
                    <a:solidFill>
                      <a:srgbClr val="0038A8"/>
                    </a:solidFill>
                  </a:tcPr>
                </a:tc>
              </a:tr>
              <a:tr h="56083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ourier New"/>
                        </a:rPr>
                        <a:t>NotImplementedError: trin 4.5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godt! Trinene før virker. Gå videre til 4.5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</a:tr>
              <a:tr h="56083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ourier New"/>
                        </a:rPr>
                        <a:t>TypeError: … not all arguments converted</a:t>
                      </a:r>
                    </a:p>
                  </a:txBody>
                  <a:tcPr marL="97536" marR="97536" marT="36575" marB="36575" anchor="ctr">
                    <a:solidFill>
                      <a:srgbClr val="E3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antallet af %s og værdier passer ikke</a:t>
                      </a:r>
                    </a:p>
                  </a:txBody>
                  <a:tcPr marL="97536" marR="97536" marT="36575" marB="36575" anchor="ctr">
                    <a:solidFill>
                      <a:srgbClr val="E3EAF7"/>
                    </a:solidFill>
                  </a:tcPr>
                </a:tc>
              </a:tr>
              <a:tr h="56083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ourier New"/>
                        </a:rPr>
                        <a:t>UndefinedColumn: column "bloodtype"…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stavefejl i et kolonnenavn: sammenlign med schema.sql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</a:tr>
              <a:tr h="56083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ourier New"/>
                        </a:rPr>
                        <a:t>CheckViolation</a:t>
                      </a:r>
                    </a:p>
                  </a:txBody>
                  <a:tcPr marL="97536" marR="97536" marT="36575" marB="36575" anchor="ctr">
                    <a:solidFill>
                      <a:srgbClr val="E3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data bryder en CHECK-regel, som tilsigtet</a:t>
                      </a:r>
                    </a:p>
                  </a:txBody>
                  <a:tcPr marL="97536" marR="97536" marT="36575" marB="36575" anchor="ctr">
                    <a:solidFill>
                      <a:srgbClr val="E3EAF7"/>
                    </a:solidFill>
                  </a:tcPr>
                </a:tc>
              </a:tr>
              <a:tr h="56083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ourier New"/>
                        </a:rPr>
                        <a:t>NotNullViolation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en påkrævet værdi mangler (None)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</a:tr>
              <a:tr h="56083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ourier New"/>
                        </a:rPr>
                        <a:t>requests ConnectionError</a:t>
                      </a:r>
                    </a:p>
                  </a:txBody>
                  <a:tcPr marL="97536" marR="97536" marT="36575" marB="36575" anchor="ctr">
                    <a:solidFill>
                      <a:srgbClr val="E3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appen fra lektion 4 kører ikke (7.1)</a:t>
                      </a:r>
                    </a:p>
                  </a:txBody>
                  <a:tcPr marL="97536" marR="97536" marT="36575" marB="36575" anchor="ctr">
                    <a:solidFill>
                      <a:srgbClr val="E3EAF7"/>
                    </a:solidFill>
                  </a:tcPr>
                </a:tc>
              </a:tr>
              <a:tr h="56083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ourier New"/>
                        </a:rPr>
                        <a:t>401 UNAUTHORIZED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token mangler i Authorization-headeren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Læs mere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FFFFFF"/>
                </a:solidFill>
                <a:latin typeface="Calibri"/>
              </a:rPr>
              <a:t>Alle links står også nederst i theory.md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767839"/>
            <a:ext cx="3474720" cy="3657600"/>
          </a:xfrm>
          <a:prstGeom prst="rect">
            <a:avLst/>
          </a:prstGeom>
          <a:solidFill>
            <a:srgbClr val="E3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39" y="1950720"/>
            <a:ext cx="3047999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20" b="1" i="0">
                <a:solidFill>
                  <a:srgbClr val="0038A8"/>
                </a:solidFill>
                <a:latin typeface="Aptos Serif"/>
              </a:rPr>
              <a:t>PostgreSQL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39" y="2499359"/>
            <a:ext cx="3047999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33"/>
              </a:spcAft>
            </a:pPr>
            <a:r>
              <a:rPr sz="1733" b="0" i="0">
                <a:solidFill>
                  <a:srgbClr val="1F8A93"/>
                </a:solidFill>
                <a:latin typeface="Calibri"/>
                <a:hlinkClick r:id="rId2"/>
              </a:rPr>
              <a:t>Officiel tutorial</a:t>
            </a:r>
          </a:p>
          <a:p>
            <a:pPr algn="l">
              <a:spcAft>
                <a:spcPts val="933"/>
              </a:spcAft>
            </a:pPr>
            <a:r>
              <a:rPr sz="1733" b="0" i="0">
                <a:solidFill>
                  <a:srgbClr val="1F8A93"/>
                </a:solidFill>
                <a:latin typeface="Calibri"/>
                <a:hlinkClick r:id="rId3"/>
              </a:rPr>
              <a:t>CREATE TABLE</a:t>
            </a:r>
          </a:p>
          <a:p>
            <a:pPr algn="l">
              <a:spcAft>
                <a:spcPts val="933"/>
              </a:spcAft>
            </a:pPr>
            <a:r>
              <a:rPr sz="1733" b="0" i="0">
                <a:solidFill>
                  <a:srgbClr val="1F8A93"/>
                </a:solidFill>
                <a:latin typeface="Calibri"/>
                <a:hlinkClick r:id="rId4"/>
              </a:rPr>
              <a:t>Constraints</a:t>
            </a:r>
          </a:p>
          <a:p>
            <a:pPr algn="l">
              <a:spcAft>
                <a:spcPts val="933"/>
              </a:spcAft>
            </a:pPr>
            <a:r>
              <a:rPr sz="1733" b="0" i="0">
                <a:solidFill>
                  <a:srgbClr val="1F8A93"/>
                </a:solidFill>
                <a:latin typeface="Calibri"/>
                <a:hlinkClick r:id="rId5"/>
              </a:rPr>
              <a:t>Identity columns</a:t>
            </a:r>
          </a:p>
          <a:p>
            <a:pPr algn="l">
              <a:spcAft>
                <a:spcPts val="933"/>
              </a:spcAft>
            </a:pPr>
            <a:r>
              <a:rPr sz="1733" b="0" i="0">
                <a:solidFill>
                  <a:srgbClr val="1F8A93"/>
                </a:solidFill>
                <a:latin typeface="Calibri"/>
                <a:hlinkClick r:id="rId6"/>
              </a:rPr>
              <a:t>INSERT, UPDATE, DELETE</a:t>
            </a:r>
          </a:p>
          <a:p>
            <a:pPr algn="l">
              <a:spcAft>
                <a:spcPts val="933"/>
              </a:spcAft>
            </a:pPr>
            <a:r>
              <a:rPr sz="1733" b="0" i="0">
                <a:solidFill>
                  <a:srgbClr val="1F8A93"/>
                </a:solidFill>
                <a:latin typeface="Calibri"/>
                <a:hlinkClick r:id="rId7"/>
              </a:rPr>
              <a:t>W3Schools SQL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8159" y="1767839"/>
            <a:ext cx="3474720" cy="3657600"/>
          </a:xfrm>
          <a:prstGeom prst="rect">
            <a:avLst/>
          </a:prstGeom>
          <a:solidFill>
            <a:srgbClr val="E3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950720"/>
            <a:ext cx="3047999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20" b="1" i="0">
                <a:solidFill>
                  <a:srgbClr val="0038A8"/>
                </a:solidFill>
                <a:latin typeface="Aptos Serif"/>
              </a:rPr>
              <a:t>psycopg 3 og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499359"/>
            <a:ext cx="3047999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33"/>
              </a:spcAft>
            </a:pPr>
            <a:r>
              <a:rPr sz="1733" b="0" i="0">
                <a:solidFill>
                  <a:srgbClr val="1F8A93"/>
                </a:solidFill>
                <a:latin typeface="Calibri"/>
                <a:hlinkClick r:id="rId8"/>
              </a:rPr>
              <a:t>t-string queries</a:t>
            </a:r>
          </a:p>
          <a:p>
            <a:pPr algn="l">
              <a:spcAft>
                <a:spcPts val="933"/>
              </a:spcAft>
            </a:pPr>
            <a:r>
              <a:rPr sz="1733" b="0" i="0">
                <a:solidFill>
                  <a:srgbClr val="1F8A93"/>
                </a:solidFill>
                <a:latin typeface="Calibri"/>
                <a:hlinkClick r:id="rId9"/>
              </a:rPr>
              <a:t>Passing parameters (%s)</a:t>
            </a:r>
          </a:p>
          <a:p>
            <a:pPr algn="l">
              <a:spcAft>
                <a:spcPts val="933"/>
              </a:spcAft>
            </a:pPr>
            <a:r>
              <a:rPr sz="1733" b="0" i="0">
                <a:solidFill>
                  <a:srgbClr val="1F8A93"/>
                </a:solidFill>
                <a:latin typeface="Calibri"/>
                <a:hlinkClick r:id="rId10"/>
              </a:rPr>
              <a:t>Basic usage</a:t>
            </a:r>
          </a:p>
          <a:p>
            <a:pPr algn="l">
              <a:spcAft>
                <a:spcPts val="933"/>
              </a:spcAft>
            </a:pPr>
            <a:r>
              <a:rPr sz="1733" b="0" i="0">
                <a:solidFill>
                  <a:srgbClr val="1F8A93"/>
                </a:solidFill>
                <a:latin typeface="Calibri"/>
                <a:hlinkClick r:id="rId11"/>
              </a:rPr>
              <a:t>Transactions</a:t>
            </a:r>
          </a:p>
          <a:p>
            <a:pPr algn="l">
              <a:spcAft>
                <a:spcPts val="933"/>
              </a:spcAft>
            </a:pPr>
            <a:r>
              <a:rPr sz="1733" b="0" i="0">
                <a:solidFill>
                  <a:srgbClr val="1F8A93"/>
                </a:solidFill>
                <a:latin typeface="Calibri"/>
                <a:hlinkClick r:id="rId12"/>
              </a:rPr>
              <a:t>PEP 750: Template strings</a:t>
            </a:r>
          </a:p>
          <a:p>
            <a:pPr algn="l">
              <a:spcAft>
                <a:spcPts val="933"/>
              </a:spcAft>
            </a:pPr>
            <a:r>
              <a:rPr sz="1733" b="0" i="0">
                <a:solidFill>
                  <a:srgbClr val="1F8A93"/>
                </a:solidFill>
                <a:latin typeface="Calibri"/>
                <a:hlinkClick r:id="rId13"/>
              </a:rPr>
              <a:t>OWASP: SQL injection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19" y="1767839"/>
            <a:ext cx="3474720" cy="3657600"/>
          </a:xfrm>
          <a:prstGeom prst="rect">
            <a:avLst/>
          </a:prstGeom>
          <a:solidFill>
            <a:srgbClr val="E3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0560" y="1950720"/>
            <a:ext cx="3047999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20" b="1" i="0">
                <a:solidFill>
                  <a:srgbClr val="0038A8"/>
                </a:solidFill>
                <a:latin typeface="Aptos Serif"/>
              </a:rPr>
              <a:t>ER diagrammer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0560" y="2499359"/>
            <a:ext cx="3047999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33"/>
              </a:spcAft>
            </a:pPr>
            <a:r>
              <a:rPr sz="1733" b="1" i="0">
                <a:solidFill>
                  <a:srgbClr val="333333"/>
                </a:solidFill>
                <a:latin typeface="Calibri"/>
              </a:rPr>
              <a:t>er_design_guide.md</a:t>
            </a:r>
          </a:p>
          <a:p>
            <a:pPr algn="l">
              <a:spcAft>
                <a:spcPts val="933"/>
              </a:spcAft>
            </a:pPr>
            <a:r>
              <a:rPr sz="1733" b="0" i="0">
                <a:solidFill>
                  <a:srgbClr val="1F8A93"/>
                </a:solidFill>
                <a:latin typeface="Calibri"/>
                <a:hlinkClick r:id="rId14"/>
              </a:rPr>
              <a:t>pgAdmin ERD Tool</a:t>
            </a:r>
          </a:p>
          <a:p>
            <a:pPr algn="l">
              <a:spcAft>
                <a:spcPts val="933"/>
              </a:spcAft>
            </a:pPr>
            <a:r>
              <a:rPr sz="1733" b="0" i="0">
                <a:solidFill>
                  <a:srgbClr val="1F8A93"/>
                </a:solidFill>
                <a:latin typeface="Calibri"/>
                <a:hlinkClick r:id="rId15"/>
              </a:rPr>
              <a:t>Lucidchart: ER diagrams</a:t>
            </a:r>
          </a:p>
          <a:p>
            <a:pPr algn="l">
              <a:spcAft>
                <a:spcPts val="933"/>
              </a:spcAft>
            </a:pPr>
            <a:r>
              <a:rPr sz="1733" b="0" i="0">
                <a:solidFill>
                  <a:srgbClr val="1F8A93"/>
                </a:solidFill>
                <a:latin typeface="Calibri"/>
                <a:hlinkClick r:id="rId16"/>
              </a:rPr>
              <a:t>Mermaid ER syntax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Din tur: exercise.md, trin 4–7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280160"/>
            <a:ext cx="11460480" cy="4913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584960"/>
            <a:ext cx="2560320" cy="2194560"/>
          </a:xfrm>
          <a:prstGeom prst="rect">
            <a:avLst/>
          </a:prstGeom>
          <a:solidFill>
            <a:srgbClr val="E3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3439" y="1828800"/>
            <a:ext cx="548640" cy="548640"/>
          </a:xfrm>
          <a:prstGeom prst="ellipse">
            <a:avLst/>
          </a:prstGeom>
          <a:solidFill>
            <a:srgbClr val="1F8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39" y="18288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39" y="2560320"/>
            <a:ext cx="219456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0038A8"/>
                </a:solidFill>
                <a:latin typeface="Calibri"/>
              </a:rPr>
              <a:t>Create + read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39" y="2950464"/>
            <a:ext cx="219456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t-strings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439" y="3291840"/>
            <a:ext cx="219456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F6B73"/>
                </a:solidFill>
                <a:latin typeface="Calibri"/>
              </a:rPr>
              <a:t>10 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13759" y="1584960"/>
            <a:ext cx="2560320" cy="2194560"/>
          </a:xfrm>
          <a:prstGeom prst="rect">
            <a:avLst/>
          </a:prstGeom>
          <a:solidFill>
            <a:srgbClr val="E3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57600" y="1828800"/>
            <a:ext cx="548640" cy="548640"/>
          </a:xfrm>
          <a:prstGeom prst="ellipse">
            <a:avLst/>
          </a:prstGeom>
          <a:solidFill>
            <a:srgbClr val="1F8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8288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560320"/>
            <a:ext cx="219456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0038A8"/>
                </a:solidFill>
                <a:latin typeface="Calibri"/>
              </a:rPr>
              <a:t>Update + delete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950464"/>
            <a:ext cx="219456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rowcount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291840"/>
            <a:ext cx="219456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F6B73"/>
                </a:solidFill>
                <a:latin typeface="Calibri"/>
              </a:rPr>
              <a:t>5 min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19" y="1584960"/>
            <a:ext cx="2560320" cy="2194560"/>
          </a:xfrm>
          <a:prstGeom prst="rect">
            <a:avLst/>
          </a:prstGeom>
          <a:solidFill>
            <a:srgbClr val="E3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61760" y="1828800"/>
            <a:ext cx="548640" cy="548640"/>
          </a:xfrm>
          <a:prstGeom prst="ellipse">
            <a:avLst/>
          </a:prstGeom>
          <a:solidFill>
            <a:srgbClr val="1F8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1760" y="18288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760" y="2560320"/>
            <a:ext cx="219456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0038A8"/>
                </a:solidFill>
                <a:latin typeface="Calibri"/>
              </a:rPr>
              <a:t>CHECK-fejl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1760" y="2950464"/>
            <a:ext cx="219456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try / except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760" y="3291840"/>
            <a:ext cx="219456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F6B73"/>
                </a:solidFill>
                <a:latin typeface="Calibri"/>
              </a:rPr>
              <a:t>3 min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22079" y="1584960"/>
            <a:ext cx="2560320" cy="2194560"/>
          </a:xfrm>
          <a:prstGeom prst="rect">
            <a:avLst/>
          </a:prstGeom>
          <a:solidFill>
            <a:srgbClr val="E3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65920" y="1828800"/>
            <a:ext cx="548640" cy="548640"/>
          </a:xfrm>
          <a:prstGeom prst="ellipse">
            <a:avLst/>
          </a:prstGeom>
          <a:solidFill>
            <a:srgbClr val="FE4C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65920" y="18288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5920" y="2560320"/>
            <a:ext cx="219456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0038A8"/>
                </a:solidFill>
                <a:latin typeface="Calibri"/>
              </a:rPr>
              <a:t>executemany()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65920" y="2950464"/>
            <a:ext cx="219456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API + token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5920" y="3291840"/>
            <a:ext cx="219456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F6B73"/>
                </a:solidFill>
                <a:latin typeface="Calibri"/>
              </a:rPr>
              <a:t>12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420624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333"/>
              </a:spcAft>
            </a:pPr>
            <a:r>
              <a:rPr sz="1866" b="1" i="0">
                <a:solidFill>
                  <a:srgbClr val="0038A8"/>
                </a:solidFill>
                <a:latin typeface="Calibri"/>
              </a:rPr>
              <a:t>Sidder du fast? </a:t>
            </a:r>
            <a:r>
              <a:rPr sz="1866" b="0" i="0">
                <a:solidFill>
                  <a:srgbClr val="333333"/>
                </a:solidFill>
                <a:latin typeface="Calibri"/>
              </a:rPr>
              <a:t>1) læs fejlen nedefra og op  2) læs TODO-hintet  3) find slidet for trinnet  4) kig i solution/</a:t>
            </a:r>
          </a:p>
          <a:p>
            <a:pPr algn="l">
              <a:spcAft>
                <a:spcPts val="1333"/>
              </a:spcAft>
            </a:pPr>
            <a:r>
              <a:rPr sz="1866" b="1" i="0">
                <a:solidFill>
                  <a:srgbClr val="0038A8"/>
                </a:solidFill>
                <a:latin typeface="Calibri"/>
              </a:rPr>
              <a:t>Færdig før tid? </a:t>
            </a:r>
            <a:r>
              <a:rPr sz="1866" b="0" i="0">
                <a:solidFill>
                  <a:srgbClr val="333333"/>
                </a:solidFill>
                <a:latin typeface="Calibri"/>
              </a:rPr>
              <a:t>Ekstraopgaver: SQL injection-test, ORDER BY {column:i}, en allergy-tabel.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æsentation3" id="{47A70E4D-E829-6142-8D7A-266DF559A7A1}" vid="{F2789681-2020-6642-AFF1-73227AA778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74AD318EC2E9B40AD8B7049EB16B85E" ma:contentTypeVersion="18" ma:contentTypeDescription="Opret et nyt dokument." ma:contentTypeScope="" ma:versionID="3d26f90c7d90d461162d5f348dd417a7">
  <xsd:schema xmlns:xsd="http://www.w3.org/2001/XMLSchema" xmlns:xs="http://www.w3.org/2001/XMLSchema" xmlns:p="http://schemas.microsoft.com/office/2006/metadata/properties" xmlns:ns2="23d56eaa-9f9a-4503-9a32-c18a3a465a0b" xmlns:ns3="8f5a357d-d106-42fe-9dda-037744778dbb" targetNamespace="http://schemas.microsoft.com/office/2006/metadata/properties" ma:root="true" ma:fieldsID="9665d199feccd5b7922aceb2e400657f" ns2:_="" ns3:_="">
    <xsd:import namespace="23d56eaa-9f9a-4503-9a32-c18a3a465a0b"/>
    <xsd:import namespace="8f5a357d-d106-42fe-9dda-037744778d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d56eaa-9f9a-4503-9a32-c18a3a465a0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9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Location" ma:index="10" nillable="true" ma:displayName="Location" ma:description="" ma:internalName="MediaServiceLocatio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3" nillable="true" ma:taxonomy="true" ma:internalName="lcf76f155ced4ddcb4097134ff3c332f" ma:taxonomyFieldName="MediaServiceImageTags" ma:displayName="Billedmærker" ma:readOnly="false" ma:fieldId="{5cf76f15-5ced-4ddc-b409-7134ff3c332f}" ma:taxonomyMulti="true" ma:sspId="61593edc-fe69-4ff2-86d1-67b90c929ed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5a357d-d106-42fe-9dda-037744778db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f654023-ba1f-491e-9e42-068efaed9164}" ma:internalName="TaxCatchAll" ma:showField="CatchAllData" ma:web="8f5a357d-d106-42fe-9dda-037744778d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7" ma:displayName="Indholdstype"/>
        <xsd:element ref="dc:title" minOccurs="0" maxOccurs="1" ma:index="3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f5a357d-d106-42fe-9dda-037744778dbb" xsi:nil="true"/>
    <lcf76f155ced4ddcb4097134ff3c332f xmlns="23d56eaa-9f9a-4503-9a32-c18a3a465a0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834366C-A292-4D01-AFBA-DE8A74F09A66}"/>
</file>

<file path=customXml/itemProps2.xml><?xml version="1.0" encoding="utf-8"?>
<ds:datastoreItem xmlns:ds="http://schemas.openxmlformats.org/officeDocument/2006/customXml" ds:itemID="{8CFC123B-1928-4CD9-AC5A-F026DF92D7CA}"/>
</file>

<file path=customXml/itemProps3.xml><?xml version="1.0" encoding="utf-8"?>
<ds:datastoreItem xmlns:ds="http://schemas.openxmlformats.org/officeDocument/2006/customXml" ds:itemID="{138E7D14-521D-4692-AEBE-C1FBB0311BC8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5802</TotalTime>
  <Words>0</Words>
  <Application>Microsoft Macintosh PowerPoint</Application>
  <PresentationFormat>Widescreen</PresentationFormat>
  <Paragraphs>0</Paragraphs>
  <Slides>40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40</vt:i4>
      </vt:variant>
    </vt:vector>
  </HeadingPairs>
  <TitlesOfParts>
    <vt:vector size="45" baseType="lpstr">
      <vt:lpstr>Aptos</vt:lpstr>
      <vt:lpstr>Aptos Serif</vt:lpstr>
      <vt:lpstr>Arial</vt:lpstr>
      <vt:lpstr>Calibri</vt:lpstr>
      <vt:lpstr>Office-tema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 1 - Database design og CRUD</dc:title>
  <dc:creator>Nina B. Müller (NIBM - Kommunikationsmedarbejder - Cphbusiness)</dc:creator>
  <cp:lastModifiedBy>Nina B. Müller (NIBM - Kommunikationsmedarbejder - Cphbusiness)</cp:lastModifiedBy>
  <cp:revision>2</cp:revision>
  <dcterms:created xsi:type="dcterms:W3CDTF">2025-06-26T10:44:11Z</dcterms:created>
  <dcterms:modified xsi:type="dcterms:W3CDTF">2025-06-30T11:27:36Z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0x010100E74AD318EC2E9B40AD8B7049EB16B85E</vt:lpwstr>
  </property>
</Properties>
</file>